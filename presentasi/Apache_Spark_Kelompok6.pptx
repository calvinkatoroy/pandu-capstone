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dc23e01c-b956-a24f-dd05-cbae5c136bff}">
          <p14:sldIdLst>
            <p14:sldId id="256"/>
            <p14:sldId id="257"/>
          </p14:sldIdLst>
        </p14:section>
        <p14:section name="Pertanyaan 1" id="{1f9745ed-be66-fcc5-e050-e0a5aeb8cfee}">
          <p14:sldIdLst>
            <p14:sldId id="258"/>
            <p14:sldId id="259"/>
          </p14:sldIdLst>
        </p14:section>
        <p14:section name="Pertanyaan 2" id="{d593b4f9-23eb-64f6-c3dc-97384c92c2b8}">
          <p14:sldIdLst>
            <p14:sldId id="260"/>
            <p14:sldId id="261"/>
          </p14:sldIdLst>
        </p14:section>
        <p14:section name="Pertanyaan 3" id="{d53aeb5f-6f24-1d84-0017-d6ed12d20353}">
          <p14:sldIdLst>
            <p14:sldId id="262"/>
            <p14:sldId id="263"/>
          </p14:sldIdLst>
        </p14:section>
        <p14:section name="Pertanyaan 4" id="{f9f6d6e2-d385-ee42-b8cf-6acb4d8dabaa}">
          <p14:sldIdLst>
            <p14:sldId id="264"/>
            <p14:sldId id="265"/>
            <p14:sldId id="266"/>
          </p14:sldIdLst>
        </p14:section>
        <p14:section name="Pertanyaan 5" id="{b6531edf-a569-8daa-ae84-929dc817c84c}">
          <p14:sldIdLst>
            <p14:sldId id="267"/>
            <p14:sldId id="268"/>
          </p14:sldIdLst>
        </p14:section>
        <p14:section name="Penutup" id="{5d21d811-2d1a-1874-de03-cfaf0041ac0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pembuka. Perkenalkan Kelompok 6. Hari ini kami membahas implementasi Apache Spark dalam Big Data melalui lima pertanyaan diskusi: evolusi dari Hadoop, lazy evaluation &amp; DAG, RDD vs DataFrame, arsitektur terdistribusi, dan ekosistem terpadu.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anggota, lalu gambaran alur lima pertanyaan. Estimasi waktu sekitar 20-25 menit termasuk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Hadoop MapReduce memaksa setiap tahap menulis hasil antara ke disk. Satu job: baca dari HDFS, Map, tulis ke disk lokal, shuffle lewat jaringan, Reduce, lalu tulis lagi ke HDFS dengan replikasi. Untuk algoritma iteratif (machine learning, PageRank) setiap iterasi adalah job baru yang membaca ulang data dari HDFS. Itu sebabnya disk I/O menjadi bottleneck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menyimpan data antar operasi di memori (RAM) sehingga tidak perlu bolak-balik ke disk. Klaim 100x lebih cepat berlaku untuk workload in-memory, terutama iteratif; sekitar 10x lebih cepat bahkan saat harus memakai disk karena pipelining dan DAG. Fault tolerance tetap terjaga lewat lineage: partisi yang hilang dihitung ulang dari langkah-langkah transformasinya, bukan lewat replikasi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bersifat lazy: hanya mencatat resep ke dalam rencana (DAG), tidak ada data yang dibaca. Narrow transformation (map, filter) tidak butuh shuffle; wide transformation (groupBy, join) butuh shuffle. Action bersifat eager: memicu eksekusi seluruh rencana. Contoh kode di bawah: tiga baris pertama instan, baru baris terakhir memicu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Karena transformasi ditunda, Spark melihat seluruh rangkaian sebelum menjalankan apa pun. Saat action dipanggil, rangkaian itu menjadi DAG (graf berarah tanpa siklus). Spark mengoptimalkannya, memotong DAG menjadi stage pada batas shuffle, lalu memecah tiap stage menjadi task per partisi yang dikirim ke executor. Keuntungan: pipelining, pruning, dan fault tolerance berbasis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RDD adalah koleksi objek terdistribusi tanpa skema; fungsi lambda adalah kotak hitam bagi Spark, sehingga tidak bisa dioptimalkan. DataFrame punya skema (kolom dan tipe) dan operasi deklaratif, sehingga Catalyst bisa menganalisis dan menulis ulang rencana. Empat fase Catalyst: Analysis, Logical Optimization, Physical Planning, dan Code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DataFrame menjadi pilihan default, tetapi RDD tetap relevan: data tanpa struktur, kebutuhan kontrol fisik seperti custom partitioner, logika kompleks yang sulit diekspresikan dengan SQL, dan kode legacy. Konsekuensinya: tidak ada optimasi Catalyst, dan di PySpark RDD lebih lambat karena serialisasi antara Python dan JVM. Kita bisa berpindah dengan df.rdd dan toDF().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ini menunjukkan alur: Driver meminta resource ke Cluster Manager, Cluster Manager meluncurkan Executor di Worker Node, lalu Driver mengirim task langsung ke Executor dan menerima hasilnya. Garis putus-putus adalah komunikasi data/task langsung antara Driver dan Executor.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 adalah otak aplikasi: menjalankan main(), membuat SparkSession, membangun DAG, menjadwalkan task. Cluster Manager hanya mengatur resource, tidak tahu logika aplikasi. Worker Node adalah mesin fisik/VM. Executor adalah proses JVM di worker yang menjalankan task dan menyimpan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file 1 TB di HDFS dengan blok 128 MB menjadi sekitar 8.192 partisi, sehingga ada sekitar 8.192 task per stage. Task dijalankan paralel sebanyak total core executor; sisanya mengantre. Prinsip utama: data dipecah, komputasi dibawa ke data (data locality), hanya hasil kecil kembali ke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Spark, tiap tantangan butuh sistem berbeda: Hadoop untuk batch, Storm untuk streaming, Hive untuk SQL, Mahout untuk ML. Spark menyatukan semuanya dalam satu engine. Volume ditangani Spark Core dan Spark SQL yang scale-out; Velocity oleh Structured Streaming; Variety oleh Data Source API yang membaca banyak format dan MLlib untuk analitik 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Ilustrasi pipeline end-to-end, misalnya deteksi anomali transaksi. Data masuk lewat Structured Streaming, dibersihkan dan digabung dengan data historis lewat Spark SQL, lalu model MLlib memberi skor secara real-time. Semuanya memakai DataFrame, satu optimizer, satu klaster, tanpa memindahkan data antar sistem.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Rangkuman satu kalimat per pertanyaan. Pesan utama: Spark menjawab keterbatasan MapReduce dengan in-memory dan DAG, dioptimalkan lewat DataFrame dan Catalyst, berjalan terdistribusi, dan menyatukan banyak beban kerja dalam satu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Kami terbuka untuk pertanyaan dan diskusi.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035040" y="457200"/>
            <a:ext cx="4206240" cy="4206240"/>
          </a:xfrm>
          <a:prstGeom prst="ellipse">
            <a:avLst/>
          </a:prstGeom>
          <a:solidFill>
            <a:schemeClr val="accent1">
              <a:alpha val="15000"/>
            </a:schemeClr>
          </a:solidFill>
          <a:ln w="12700">
            <a:solidFill>
              <a:schemeClr val="accent1"/>
            </a:solidFill>
            <a:prstDash val="solid"/>
          </a:ln>
        </p:spPr>
      </p:sp>
      <p:sp>
        <p:nvSpPr>
          <p:cNvPr id="4" name="Shape 1"/>
          <p:cNvSpPr/>
          <p:nvPr/>
        </p:nvSpPr>
        <p:spPr>
          <a:xfrm>
            <a:off x="7040880" y="2377440"/>
            <a:ext cx="2651760" cy="2651760"/>
          </a:xfrm>
          <a:prstGeom prst="ellipse">
            <a:avLst/>
          </a:prstGeom>
          <a:solidFill>
            <a:schemeClr val="accent1">
              <a:alpha val="35000"/>
            </a:schemeClr>
          </a:solidFill>
          <a:ln w="12700">
            <a:solidFill>
              <a:schemeClr val="accent1"/>
            </a:solidFill>
            <a:prstDash val="solid"/>
          </a:ln>
        </p:spPr>
      </p:sp>
      <p:sp>
        <p:nvSpPr>
          <p:cNvPr id="5" name="Text 2"/>
          <p:cNvSpPr txBox="1"/>
          <p:nvPr/>
        </p:nvSpPr>
        <p:spPr>
          <a:xfrm>
            <a:off x="548640" y="822960"/>
            <a:ext cx="5486400"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TEKNOLOGI BIG DATA</a:t>
            </a:r>
            <a:endParaRPr lang="en-US" sz="1300" dirty="0"/>
          </a:p>
        </p:txBody>
      </p:sp>
      <p:sp>
        <p:nvSpPr>
          <p:cNvPr id="6" name="Text 3"/>
          <p:cNvSpPr txBox="1"/>
          <p:nvPr/>
        </p:nvSpPr>
        <p:spPr>
          <a:xfrm>
            <a:off x="548640" y="1280160"/>
            <a:ext cx="6400800" cy="155448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Implementasi Apache Spark dalam Big Data</a:t>
            </a:r>
            <a:endParaRPr lang="en-US" sz="4000" dirty="0"/>
          </a:p>
        </p:txBody>
      </p:sp>
      <p:sp>
        <p:nvSpPr>
          <p:cNvPr id="7" name="Text 4"/>
          <p:cNvSpPr txBox="1"/>
          <p:nvPr/>
        </p:nvSpPr>
        <p:spPr>
          <a:xfrm>
            <a:off x="548640" y="3017520"/>
            <a:ext cx="5486400" cy="365760"/>
          </a:xfrm>
          <a:prstGeom prst="rect">
            <a:avLst/>
          </a:prstGeom>
          <a:noFill/>
          <a:ln/>
        </p:spPr>
        <p:txBody>
          <a:bodyPr wrap="square" lIns="0" tIns="0" rIns="0" bIns="0" rtlCol="0" anchor="ctr"/>
          <a:lstStyle/>
          <a:p>
            <a:pPr indent="0" marL="0">
              <a:buNone/>
            </a:pPr>
            <a:r>
              <a:rPr lang="en-US" sz="1600" dirty="0">
                <a:solidFill>
                  <a:schemeClr val="bg2"/>
                </a:solidFill>
              </a:rPr>
              <a:t>Hasil diskusi kelompok &amp; presentasi kelas</a:t>
            </a:r>
            <a:endParaRPr lang="en-US" sz="1600" dirty="0"/>
          </a:p>
        </p:txBody>
      </p:sp>
      <p:sp>
        <p:nvSpPr>
          <p:cNvPr id="8" name="Text 5"/>
          <p:cNvSpPr txBox="1"/>
          <p:nvPr/>
        </p:nvSpPr>
        <p:spPr>
          <a:xfrm>
            <a:off x="548640" y="4114800"/>
            <a:ext cx="4572000" cy="365760"/>
          </a:xfrm>
          <a:prstGeom prst="rect">
            <a:avLst/>
          </a:prstGeom>
          <a:noFill/>
          <a:ln/>
        </p:spPr>
        <p:txBody>
          <a:bodyPr wrap="square" lIns="0" tIns="0" rIns="0" bIns="0" rtlCol="0" anchor="ctr"/>
          <a:lstStyle/>
          <a:p>
            <a:pPr indent="0" marL="0">
              <a:buNone/>
            </a:pPr>
            <a:r>
              <a:rPr lang="en-US" sz="2000" b="1" dirty="0">
                <a:solidFill>
                  <a:schemeClr val="accent1"/>
                </a:solidFill>
              </a:rPr>
              <a:t>Kelompok 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Kelompok 6 &amp; Alur Presentasi</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PEMBUKA</a:t>
            </a:r>
            <a:endParaRPr lang="en-US" sz="1200" dirty="0"/>
          </a:p>
        </p:txBody>
      </p:sp>
      <p:sp>
        <p:nvSpPr>
          <p:cNvPr id="5" name="Text 2"/>
          <p:cNvSpPr txBox="1"/>
          <p:nvPr/>
        </p:nvSpPr>
        <p:spPr>
          <a:xfrm>
            <a:off x="457200" y="1371600"/>
            <a:ext cx="3657600" cy="320040"/>
          </a:xfrm>
          <a:prstGeom prst="rect">
            <a:avLst/>
          </a:prstGeom>
          <a:noFill/>
          <a:ln/>
        </p:spPr>
        <p:txBody>
          <a:bodyPr wrap="square" lIns="0" tIns="0" rIns="0" bIns="0" rtlCol="0" anchor="ctr"/>
          <a:lstStyle/>
          <a:p>
            <a:pPr indent="0" marL="0">
              <a:buNone/>
            </a:pPr>
            <a:r>
              <a:rPr lang="en-US" sz="1800" b="1" dirty="0">
                <a:solidFill>
                  <a:schemeClr val="tx1"/>
                </a:solidFill>
              </a:rPr>
              <a:t>Anggota</a:t>
            </a:r>
            <a:endParaRPr lang="en-US" sz="1800" dirty="0"/>
          </a:p>
        </p:txBody>
      </p:sp>
      <p:sp>
        <p:nvSpPr>
          <p:cNvPr id="6" name="Kartu"/>
          <p:cNvSpPr/>
          <p:nvPr/>
        </p:nvSpPr>
        <p:spPr>
          <a:xfrm>
            <a:off x="457200" y="1828800"/>
            <a:ext cx="3749040" cy="621792"/>
          </a:xfrm>
          <a:prstGeom prst="roundRect">
            <a:avLst>
              <a:gd name="adj" fmla="val 147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Lingkaran"/>
          <p:cNvSpPr/>
          <p:nvPr/>
        </p:nvSpPr>
        <p:spPr>
          <a:xfrm>
            <a:off x="566928" y="1920240"/>
            <a:ext cx="438912" cy="438912"/>
          </a:xfrm>
          <a:prstGeom prst="ellipse">
            <a:avLst/>
          </a:prstGeom>
          <a:solidFill>
            <a:schemeClr val="accent1"/>
          </a:solidFill>
          <a:ln w="12700">
            <a:solidFill>
              <a:schemeClr val="accent1"/>
            </a:solidFill>
            <a:prstDash val="solid"/>
          </a:ln>
        </p:spPr>
      </p:sp>
      <p:sp>
        <p:nvSpPr>
          <p:cNvPr id="8" name="Text 5"/>
          <p:cNvSpPr txBox="1"/>
          <p:nvPr/>
        </p:nvSpPr>
        <p:spPr>
          <a:xfrm>
            <a:off x="566928" y="19202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188720" y="1865376"/>
            <a:ext cx="2926080" cy="548640"/>
          </a:xfrm>
          <a:prstGeom prst="rect">
            <a:avLst/>
          </a:prstGeom>
          <a:noFill/>
          <a:ln/>
        </p:spPr>
        <p:txBody>
          <a:bodyPr wrap="square" lIns="0" tIns="0" rIns="0" bIns="0" rtlCol="0" anchor="ctr"/>
          <a:lstStyle/>
          <a:p>
            <a:pPr indent="0" marL="0">
              <a:buNone/>
            </a:pPr>
            <a:r>
              <a:rPr lang="en-US" sz="1400" b="1" dirty="0">
                <a:solidFill>
                  <a:schemeClr val="tx1"/>
                </a:solidFill>
              </a:rPr>
              <a:t>Muhammad Bryan Farras</a:t>
            </a:r>
            <a:endParaRPr lang="en-US" sz="1400" dirty="0"/>
          </a:p>
          <a:p>
            <a:pPr indent="0" marL="0">
              <a:buNone/>
            </a:pPr>
            <a:r>
              <a:rPr lang="en-US" sz="1200" dirty="0">
                <a:solidFill>
                  <a:schemeClr val="tx2"/>
                </a:solidFill>
              </a:rPr>
              <a:t>2306230975</a:t>
            </a:r>
            <a:endParaRPr lang="en-US" sz="1400" dirty="0"/>
          </a:p>
        </p:txBody>
      </p:sp>
      <p:sp>
        <p:nvSpPr>
          <p:cNvPr id="10" name="Kartu"/>
          <p:cNvSpPr/>
          <p:nvPr/>
        </p:nvSpPr>
        <p:spPr>
          <a:xfrm>
            <a:off x="457200" y="2560320"/>
            <a:ext cx="3749040" cy="621792"/>
          </a:xfrm>
          <a:prstGeom prst="roundRect">
            <a:avLst>
              <a:gd name="adj" fmla="val 147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Lingkaran"/>
          <p:cNvSpPr/>
          <p:nvPr/>
        </p:nvSpPr>
        <p:spPr>
          <a:xfrm>
            <a:off x="566928" y="2651760"/>
            <a:ext cx="438912" cy="438912"/>
          </a:xfrm>
          <a:prstGeom prst="ellipse">
            <a:avLst/>
          </a:prstGeom>
          <a:solidFill>
            <a:schemeClr val="accent1"/>
          </a:solidFill>
          <a:ln w="12700">
            <a:solidFill>
              <a:schemeClr val="accent1"/>
            </a:solidFill>
            <a:prstDash val="solid"/>
          </a:ln>
        </p:spPr>
      </p:sp>
      <p:sp>
        <p:nvSpPr>
          <p:cNvPr id="12" name="Text 9"/>
          <p:cNvSpPr txBox="1"/>
          <p:nvPr/>
        </p:nvSpPr>
        <p:spPr>
          <a:xfrm>
            <a:off x="566928" y="26517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1188720" y="2596896"/>
            <a:ext cx="2926080" cy="548640"/>
          </a:xfrm>
          <a:prstGeom prst="rect">
            <a:avLst/>
          </a:prstGeom>
          <a:noFill/>
          <a:ln/>
        </p:spPr>
        <p:txBody>
          <a:bodyPr wrap="square" lIns="0" tIns="0" rIns="0" bIns="0" rtlCol="0" anchor="ctr"/>
          <a:lstStyle/>
          <a:p>
            <a:pPr indent="0" marL="0">
              <a:buNone/>
            </a:pPr>
            <a:r>
              <a:rPr lang="en-US" sz="1400" b="1" dirty="0">
                <a:solidFill>
                  <a:schemeClr val="tx1"/>
                </a:solidFill>
              </a:rPr>
              <a:t>Mirza Adi Raffiansyah</a:t>
            </a:r>
            <a:endParaRPr lang="en-US" sz="1400" dirty="0"/>
          </a:p>
          <a:p>
            <a:pPr indent="0" marL="0">
              <a:buNone/>
            </a:pPr>
            <a:r>
              <a:rPr lang="en-US" sz="1200" dirty="0">
                <a:solidFill>
                  <a:schemeClr val="tx2"/>
                </a:solidFill>
              </a:rPr>
              <a:t>2306210323</a:t>
            </a:r>
            <a:endParaRPr lang="en-US" sz="1400" dirty="0"/>
          </a:p>
        </p:txBody>
      </p:sp>
      <p:sp>
        <p:nvSpPr>
          <p:cNvPr id="14" name="Kartu"/>
          <p:cNvSpPr/>
          <p:nvPr/>
        </p:nvSpPr>
        <p:spPr>
          <a:xfrm>
            <a:off x="457200" y="3291840"/>
            <a:ext cx="3749040" cy="621792"/>
          </a:xfrm>
          <a:prstGeom prst="roundRect">
            <a:avLst>
              <a:gd name="adj" fmla="val 147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Lingkaran"/>
          <p:cNvSpPr/>
          <p:nvPr/>
        </p:nvSpPr>
        <p:spPr>
          <a:xfrm>
            <a:off x="566928" y="3383280"/>
            <a:ext cx="438912" cy="438912"/>
          </a:xfrm>
          <a:prstGeom prst="ellipse">
            <a:avLst/>
          </a:prstGeom>
          <a:solidFill>
            <a:schemeClr val="accent1"/>
          </a:solidFill>
          <a:ln w="12700">
            <a:solidFill>
              <a:schemeClr val="accent1"/>
            </a:solidFill>
            <a:prstDash val="solid"/>
          </a:ln>
        </p:spPr>
      </p:sp>
      <p:sp>
        <p:nvSpPr>
          <p:cNvPr id="16" name="Text 13"/>
          <p:cNvSpPr txBox="1"/>
          <p:nvPr/>
        </p:nvSpPr>
        <p:spPr>
          <a:xfrm>
            <a:off x="566928" y="338328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188720" y="3328416"/>
            <a:ext cx="2926080" cy="548640"/>
          </a:xfrm>
          <a:prstGeom prst="rect">
            <a:avLst/>
          </a:prstGeom>
          <a:noFill/>
          <a:ln/>
        </p:spPr>
        <p:txBody>
          <a:bodyPr wrap="square" lIns="0" tIns="0" rIns="0" bIns="0" rtlCol="0" anchor="ctr"/>
          <a:lstStyle/>
          <a:p>
            <a:pPr indent="0" marL="0">
              <a:buNone/>
            </a:pPr>
            <a:r>
              <a:rPr lang="en-US" sz="1400" b="1" dirty="0">
                <a:solidFill>
                  <a:schemeClr val="tx1"/>
                </a:solidFill>
              </a:rPr>
              <a:t>Calvin Wirathama Katoroy</a:t>
            </a:r>
            <a:endParaRPr lang="en-US" sz="1400" dirty="0"/>
          </a:p>
          <a:p>
            <a:pPr indent="0" marL="0">
              <a:buNone/>
            </a:pPr>
            <a:r>
              <a:rPr lang="en-US" sz="1200" dirty="0">
                <a:solidFill>
                  <a:schemeClr val="tx2"/>
                </a:solidFill>
              </a:rPr>
              <a:t>2306242395</a:t>
            </a:r>
            <a:endParaRPr lang="en-US" sz="1400" dirty="0"/>
          </a:p>
        </p:txBody>
      </p:sp>
      <p:sp>
        <p:nvSpPr>
          <p:cNvPr id="18" name="Kartu"/>
          <p:cNvSpPr/>
          <p:nvPr/>
        </p:nvSpPr>
        <p:spPr>
          <a:xfrm>
            <a:off x="457200" y="4023360"/>
            <a:ext cx="3749040" cy="621792"/>
          </a:xfrm>
          <a:prstGeom prst="roundRect">
            <a:avLst>
              <a:gd name="adj" fmla="val 147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Lingkaran"/>
          <p:cNvSpPr/>
          <p:nvPr/>
        </p:nvSpPr>
        <p:spPr>
          <a:xfrm>
            <a:off x="566928" y="4114800"/>
            <a:ext cx="438912" cy="438912"/>
          </a:xfrm>
          <a:prstGeom prst="ellipse">
            <a:avLst/>
          </a:prstGeom>
          <a:solidFill>
            <a:schemeClr val="accent1"/>
          </a:solidFill>
          <a:ln w="12700">
            <a:solidFill>
              <a:schemeClr val="accent1"/>
            </a:solidFill>
            <a:prstDash val="solid"/>
          </a:ln>
        </p:spPr>
      </p:sp>
      <p:sp>
        <p:nvSpPr>
          <p:cNvPr id="20" name="Text 17"/>
          <p:cNvSpPr txBox="1"/>
          <p:nvPr/>
        </p:nvSpPr>
        <p:spPr>
          <a:xfrm>
            <a:off x="566928" y="411480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1188720" y="4059936"/>
            <a:ext cx="2926080" cy="548640"/>
          </a:xfrm>
          <a:prstGeom prst="rect">
            <a:avLst/>
          </a:prstGeom>
          <a:noFill/>
          <a:ln/>
        </p:spPr>
        <p:txBody>
          <a:bodyPr wrap="square" lIns="0" tIns="0" rIns="0" bIns="0" rtlCol="0" anchor="ctr"/>
          <a:lstStyle/>
          <a:p>
            <a:pPr indent="0" marL="0">
              <a:buNone/>
            </a:pPr>
            <a:r>
              <a:rPr lang="en-US" sz="1400" b="1" dirty="0">
                <a:solidFill>
                  <a:schemeClr val="tx1"/>
                </a:solidFill>
              </a:rPr>
              <a:t>Salim</a:t>
            </a:r>
            <a:endParaRPr lang="en-US" sz="1400" dirty="0"/>
          </a:p>
          <a:p>
            <a:pPr indent="0" marL="0">
              <a:buNone/>
            </a:pPr>
            <a:r>
              <a:rPr lang="en-US" sz="1200" dirty="0">
                <a:solidFill>
                  <a:schemeClr val="tx2"/>
                </a:solidFill>
              </a:rPr>
              <a:t>2306204604</a:t>
            </a:r>
            <a:endParaRPr lang="en-US" sz="1400" dirty="0"/>
          </a:p>
        </p:txBody>
      </p:sp>
      <p:sp>
        <p:nvSpPr>
          <p:cNvPr id="22" name="Text 19"/>
          <p:cNvSpPr txBox="1"/>
          <p:nvPr/>
        </p:nvSpPr>
        <p:spPr>
          <a:xfrm>
            <a:off x="4663440" y="1371600"/>
            <a:ext cx="3657600" cy="320040"/>
          </a:xfrm>
          <a:prstGeom prst="rect">
            <a:avLst/>
          </a:prstGeom>
          <a:noFill/>
          <a:ln/>
        </p:spPr>
        <p:txBody>
          <a:bodyPr wrap="square" lIns="0" tIns="0" rIns="0" bIns="0" rtlCol="0" anchor="ctr"/>
          <a:lstStyle/>
          <a:p>
            <a:pPr indent="0" marL="0">
              <a:buNone/>
            </a:pPr>
            <a:r>
              <a:rPr lang="en-US" sz="1800" b="1" dirty="0">
                <a:solidFill>
                  <a:schemeClr val="tx1"/>
                </a:solidFill>
              </a:rPr>
              <a:t>Alur Diskusi</a:t>
            </a:r>
            <a:endParaRPr lang="en-US" sz="1800" dirty="0"/>
          </a:p>
        </p:txBody>
      </p:sp>
      <p:sp>
        <p:nvSpPr>
          <p:cNvPr id="23" name="Lingkaran"/>
          <p:cNvSpPr/>
          <p:nvPr/>
        </p:nvSpPr>
        <p:spPr>
          <a:xfrm>
            <a:off x="4663440" y="1828800"/>
            <a:ext cx="420624" cy="420624"/>
          </a:xfrm>
          <a:prstGeom prst="ellipse">
            <a:avLst/>
          </a:prstGeom>
          <a:solidFill>
            <a:schemeClr val="accent2"/>
          </a:solidFill>
          <a:ln w="12700">
            <a:solidFill>
              <a:schemeClr val="accent2"/>
            </a:solidFill>
            <a:prstDash val="solid"/>
          </a:ln>
        </p:spPr>
      </p:sp>
      <p:sp>
        <p:nvSpPr>
          <p:cNvPr id="24" name="Text 21"/>
          <p:cNvSpPr txBox="1"/>
          <p:nvPr/>
        </p:nvSpPr>
        <p:spPr>
          <a:xfrm>
            <a:off x="4663440" y="18288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 22"/>
          <p:cNvSpPr txBox="1"/>
          <p:nvPr/>
        </p:nvSpPr>
        <p:spPr>
          <a:xfrm>
            <a:off x="5257800" y="1828800"/>
            <a:ext cx="3474720" cy="420624"/>
          </a:xfrm>
          <a:prstGeom prst="rect">
            <a:avLst/>
          </a:prstGeom>
          <a:noFill/>
          <a:ln/>
        </p:spPr>
        <p:txBody>
          <a:bodyPr wrap="square" lIns="0" tIns="0" rIns="0" bIns="0" rtlCol="0" anchor="ctr"/>
          <a:lstStyle/>
          <a:p>
            <a:pPr indent="0" marL="0">
              <a:buNone/>
            </a:pPr>
            <a:r>
              <a:rPr lang="en-US" sz="1500" dirty="0">
                <a:solidFill>
                  <a:schemeClr val="tx1"/>
                </a:solidFill>
              </a:rPr>
              <a:t>Evolusi: Hadoop MapReduce → Spark</a:t>
            </a:r>
            <a:endParaRPr lang="en-US" sz="1500" dirty="0"/>
          </a:p>
        </p:txBody>
      </p:sp>
      <p:sp>
        <p:nvSpPr>
          <p:cNvPr id="26" name="Lingkaran"/>
          <p:cNvSpPr/>
          <p:nvPr/>
        </p:nvSpPr>
        <p:spPr>
          <a:xfrm>
            <a:off x="4663440" y="2414016"/>
            <a:ext cx="420624" cy="420624"/>
          </a:xfrm>
          <a:prstGeom prst="ellipse">
            <a:avLst/>
          </a:prstGeom>
          <a:solidFill>
            <a:schemeClr val="accent2"/>
          </a:solidFill>
          <a:ln w="12700">
            <a:solidFill>
              <a:schemeClr val="accent2"/>
            </a:solidFill>
            <a:prstDash val="solid"/>
          </a:ln>
        </p:spPr>
      </p:sp>
      <p:sp>
        <p:nvSpPr>
          <p:cNvPr id="27" name="Text 24"/>
          <p:cNvSpPr txBox="1"/>
          <p:nvPr/>
        </p:nvSpPr>
        <p:spPr>
          <a:xfrm>
            <a:off x="4663440" y="241401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ext 25"/>
          <p:cNvSpPr txBox="1"/>
          <p:nvPr/>
        </p:nvSpPr>
        <p:spPr>
          <a:xfrm>
            <a:off x="5257800" y="2414016"/>
            <a:ext cx="3474720" cy="420624"/>
          </a:xfrm>
          <a:prstGeom prst="rect">
            <a:avLst/>
          </a:prstGeom>
          <a:noFill/>
          <a:ln/>
        </p:spPr>
        <p:txBody>
          <a:bodyPr wrap="square" lIns="0" tIns="0" rIns="0" bIns="0" rtlCol="0" anchor="ctr"/>
          <a:lstStyle/>
          <a:p>
            <a:pPr indent="0" marL="0">
              <a:buNone/>
            </a:pPr>
            <a:r>
              <a:rPr lang="en-US" sz="1500" dirty="0">
                <a:solidFill>
                  <a:schemeClr val="tx1"/>
                </a:solidFill>
              </a:rPr>
              <a:t>Lazy Evaluation &amp; DAG</a:t>
            </a:r>
            <a:endParaRPr lang="en-US" sz="1500" dirty="0"/>
          </a:p>
        </p:txBody>
      </p:sp>
      <p:sp>
        <p:nvSpPr>
          <p:cNvPr id="29" name="Lingkaran"/>
          <p:cNvSpPr/>
          <p:nvPr/>
        </p:nvSpPr>
        <p:spPr>
          <a:xfrm>
            <a:off x="4663440" y="2999232"/>
            <a:ext cx="420624" cy="420624"/>
          </a:xfrm>
          <a:prstGeom prst="ellipse">
            <a:avLst/>
          </a:prstGeom>
          <a:solidFill>
            <a:schemeClr val="accent2"/>
          </a:solidFill>
          <a:ln w="12700">
            <a:solidFill>
              <a:schemeClr val="accent2"/>
            </a:solidFill>
            <a:prstDash val="solid"/>
          </a:ln>
        </p:spPr>
      </p:sp>
      <p:sp>
        <p:nvSpPr>
          <p:cNvPr id="30" name="Text 27"/>
          <p:cNvSpPr txBox="1"/>
          <p:nvPr/>
        </p:nvSpPr>
        <p:spPr>
          <a:xfrm>
            <a:off x="4663440" y="29992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1" name="Text 28"/>
          <p:cNvSpPr txBox="1"/>
          <p:nvPr/>
        </p:nvSpPr>
        <p:spPr>
          <a:xfrm>
            <a:off x="5257800" y="2999232"/>
            <a:ext cx="3474720" cy="420624"/>
          </a:xfrm>
          <a:prstGeom prst="rect">
            <a:avLst/>
          </a:prstGeom>
          <a:noFill/>
          <a:ln/>
        </p:spPr>
        <p:txBody>
          <a:bodyPr wrap="square" lIns="0" tIns="0" rIns="0" bIns="0" rtlCol="0" anchor="ctr"/>
          <a:lstStyle/>
          <a:p>
            <a:pPr indent="0" marL="0">
              <a:buNone/>
            </a:pPr>
            <a:r>
              <a:rPr lang="en-US" sz="1500" dirty="0">
                <a:solidFill>
                  <a:schemeClr val="tx1"/>
                </a:solidFill>
              </a:rPr>
              <a:t>RDD vs DataFrame &amp; Catalyst</a:t>
            </a:r>
            <a:endParaRPr lang="en-US" sz="1500" dirty="0"/>
          </a:p>
        </p:txBody>
      </p:sp>
      <p:sp>
        <p:nvSpPr>
          <p:cNvPr id="32" name="Lingkaran"/>
          <p:cNvSpPr/>
          <p:nvPr/>
        </p:nvSpPr>
        <p:spPr>
          <a:xfrm>
            <a:off x="4663440" y="3584448"/>
            <a:ext cx="420624" cy="420624"/>
          </a:xfrm>
          <a:prstGeom prst="ellipse">
            <a:avLst/>
          </a:prstGeom>
          <a:solidFill>
            <a:schemeClr val="accent2"/>
          </a:solidFill>
          <a:ln w="12700">
            <a:solidFill>
              <a:schemeClr val="accent2"/>
            </a:solidFill>
            <a:prstDash val="solid"/>
          </a:ln>
        </p:spPr>
      </p:sp>
      <p:sp>
        <p:nvSpPr>
          <p:cNvPr id="33" name="Text 30"/>
          <p:cNvSpPr txBox="1"/>
          <p:nvPr/>
        </p:nvSpPr>
        <p:spPr>
          <a:xfrm>
            <a:off x="4663440" y="35844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Text 31"/>
          <p:cNvSpPr txBox="1"/>
          <p:nvPr/>
        </p:nvSpPr>
        <p:spPr>
          <a:xfrm>
            <a:off x="5257800" y="3584448"/>
            <a:ext cx="3474720" cy="420624"/>
          </a:xfrm>
          <a:prstGeom prst="rect">
            <a:avLst/>
          </a:prstGeom>
          <a:noFill/>
          <a:ln/>
        </p:spPr>
        <p:txBody>
          <a:bodyPr wrap="square" lIns="0" tIns="0" rIns="0" bIns="0" rtlCol="0" anchor="ctr"/>
          <a:lstStyle/>
          <a:p>
            <a:pPr indent="0" marL="0">
              <a:buNone/>
            </a:pPr>
            <a:r>
              <a:rPr lang="en-US" sz="1500" dirty="0">
                <a:solidFill>
                  <a:schemeClr val="tx1"/>
                </a:solidFill>
              </a:rPr>
              <a:t>Arsitektur Terdistribusi</a:t>
            </a:r>
            <a:endParaRPr lang="en-US" sz="1500" dirty="0"/>
          </a:p>
        </p:txBody>
      </p:sp>
      <p:sp>
        <p:nvSpPr>
          <p:cNvPr id="35" name="Lingkaran"/>
          <p:cNvSpPr/>
          <p:nvPr/>
        </p:nvSpPr>
        <p:spPr>
          <a:xfrm>
            <a:off x="4663440" y="4169664"/>
            <a:ext cx="420624" cy="420624"/>
          </a:xfrm>
          <a:prstGeom prst="ellipse">
            <a:avLst/>
          </a:prstGeom>
          <a:solidFill>
            <a:schemeClr val="accent2"/>
          </a:solidFill>
          <a:ln w="12700">
            <a:solidFill>
              <a:schemeClr val="accent2"/>
            </a:solidFill>
            <a:prstDash val="solid"/>
          </a:ln>
        </p:spPr>
      </p:sp>
      <p:sp>
        <p:nvSpPr>
          <p:cNvPr id="36" name="Text 33"/>
          <p:cNvSpPr txBox="1"/>
          <p:nvPr/>
        </p:nvSpPr>
        <p:spPr>
          <a:xfrm>
            <a:off x="4663440" y="41696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7" name="Text 34"/>
          <p:cNvSpPr txBox="1"/>
          <p:nvPr/>
        </p:nvSpPr>
        <p:spPr>
          <a:xfrm>
            <a:off x="5257800" y="4169664"/>
            <a:ext cx="3474720" cy="420624"/>
          </a:xfrm>
          <a:prstGeom prst="rect">
            <a:avLst/>
          </a:prstGeom>
          <a:noFill/>
          <a:ln/>
        </p:spPr>
        <p:txBody>
          <a:bodyPr wrap="square" lIns="0" tIns="0" rIns="0" bIns="0" rtlCol="0" anchor="ctr"/>
          <a:lstStyle/>
          <a:p>
            <a:pPr indent="0" marL="0">
              <a:buNone/>
            </a:pPr>
            <a:r>
              <a:rPr lang="en-US" sz="1500" dirty="0">
                <a:solidFill>
                  <a:schemeClr val="tx1"/>
                </a:solidFill>
              </a:rPr>
              <a:t>Unified Analytics Engine (3V)</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Bottleneck Hadoop MapReduce</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1 · EVOLUSI &amp; KONSEP DASAR</a:t>
            </a:r>
            <a:endParaRPr lang="en-US" sz="1200" dirty="0"/>
          </a:p>
        </p:txBody>
      </p:sp>
      <p:sp>
        <p:nvSpPr>
          <p:cNvPr id="5" name="Kotak"/>
          <p:cNvSpPr/>
          <p:nvPr/>
        </p:nvSpPr>
        <p:spPr>
          <a:xfrm>
            <a:off x="457200" y="1417320"/>
            <a:ext cx="1234440" cy="777240"/>
          </a:xfrm>
          <a:prstGeom prst="roundRect">
            <a:avLst>
              <a:gd name="adj" fmla="val 9412"/>
            </a:avLst>
          </a:prstGeom>
          <a:solidFill>
            <a:schemeClr val="accent4"/>
          </a:solidFill>
          <a:ln w="12700">
            <a:solidFill>
              <a:schemeClr val="accent4"/>
            </a:solidFill>
            <a:prstDash val="solid"/>
          </a:ln>
        </p:spPr>
      </p:sp>
      <p:sp>
        <p:nvSpPr>
          <p:cNvPr id="6" name="Text 3"/>
          <p:cNvSpPr txBox="1"/>
          <p:nvPr/>
        </p:nvSpPr>
        <p:spPr>
          <a:xfrm>
            <a:off x="457200" y="1417320"/>
            <a:ext cx="123444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Baca</a:t>
            </a:r>
            <a:endParaRPr lang="en-US" sz="1200" dirty="0"/>
          </a:p>
          <a:p>
            <a:pPr algn="ctr" indent="0" marL="0">
              <a:buNone/>
            </a:pPr>
            <a:r>
              <a:rPr lang="en-US" sz="1200" b="1" dirty="0">
                <a:solidFill>
                  <a:schemeClr val="bg1"/>
                </a:solidFill>
              </a:rPr>
              <a:t>HDFS</a:t>
            </a:r>
            <a:endParaRPr lang="en-US" sz="1200" dirty="0"/>
          </a:p>
        </p:txBody>
      </p:sp>
      <p:sp>
        <p:nvSpPr>
          <p:cNvPr id="7" name="Shape 4"/>
          <p:cNvSpPr/>
          <p:nvPr/>
        </p:nvSpPr>
        <p:spPr>
          <a:xfrm>
            <a:off x="1691640" y="1805940"/>
            <a:ext cx="137160" cy="0"/>
          </a:xfrm>
          <a:prstGeom prst="line">
            <a:avLst/>
          </a:prstGeom>
          <a:noFill/>
          <a:ln w="22225">
            <a:solidFill>
              <a:schemeClr val="tx2"/>
            </a:solidFill>
            <a:prstDash val="solid"/>
            <a:tailEnd type="triangle"/>
          </a:ln>
        </p:spPr>
      </p:sp>
      <p:sp>
        <p:nvSpPr>
          <p:cNvPr id="8" name="Kotak"/>
          <p:cNvSpPr/>
          <p:nvPr/>
        </p:nvSpPr>
        <p:spPr>
          <a:xfrm>
            <a:off x="1828800" y="1417320"/>
            <a:ext cx="1234440" cy="777240"/>
          </a:xfrm>
          <a:prstGeom prst="roundRect">
            <a:avLst>
              <a:gd name="adj" fmla="val 9412"/>
            </a:avLst>
          </a:prstGeom>
          <a:solidFill>
            <a:schemeClr val="tx2"/>
          </a:solidFill>
          <a:ln w="12700">
            <a:solidFill>
              <a:schemeClr val="tx2"/>
            </a:solidFill>
            <a:prstDash val="solid"/>
          </a:ln>
        </p:spPr>
      </p:sp>
      <p:sp>
        <p:nvSpPr>
          <p:cNvPr id="9" name="Text 6"/>
          <p:cNvSpPr txBox="1"/>
          <p:nvPr/>
        </p:nvSpPr>
        <p:spPr>
          <a:xfrm>
            <a:off x="1828800" y="1417320"/>
            <a:ext cx="123444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Map</a:t>
            </a:r>
            <a:endParaRPr lang="en-US" sz="1200" dirty="0"/>
          </a:p>
        </p:txBody>
      </p:sp>
      <p:sp>
        <p:nvSpPr>
          <p:cNvPr id="10" name="Shape 7"/>
          <p:cNvSpPr/>
          <p:nvPr/>
        </p:nvSpPr>
        <p:spPr>
          <a:xfrm>
            <a:off x="3063240" y="1805940"/>
            <a:ext cx="137160" cy="0"/>
          </a:xfrm>
          <a:prstGeom prst="line">
            <a:avLst/>
          </a:prstGeom>
          <a:noFill/>
          <a:ln w="22225">
            <a:solidFill>
              <a:schemeClr val="tx2"/>
            </a:solidFill>
            <a:prstDash val="solid"/>
            <a:tailEnd type="triangle"/>
          </a:ln>
        </p:spPr>
      </p:sp>
      <p:sp>
        <p:nvSpPr>
          <p:cNvPr id="11" name="Kotak"/>
          <p:cNvSpPr/>
          <p:nvPr/>
        </p:nvSpPr>
        <p:spPr>
          <a:xfrm>
            <a:off x="3200400" y="1417320"/>
            <a:ext cx="1234440" cy="777240"/>
          </a:xfrm>
          <a:prstGeom prst="roundRect">
            <a:avLst>
              <a:gd name="adj" fmla="val 9412"/>
            </a:avLst>
          </a:prstGeom>
          <a:solidFill>
            <a:schemeClr val="accent6"/>
          </a:solidFill>
          <a:ln w="12700">
            <a:solidFill>
              <a:schemeClr val="accent6"/>
            </a:solidFill>
            <a:prstDash val="solid"/>
          </a:ln>
        </p:spPr>
      </p:sp>
      <p:sp>
        <p:nvSpPr>
          <p:cNvPr id="12" name="Text 9"/>
          <p:cNvSpPr txBox="1"/>
          <p:nvPr/>
        </p:nvSpPr>
        <p:spPr>
          <a:xfrm>
            <a:off x="3200400" y="1417320"/>
            <a:ext cx="123444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Tulis</a:t>
            </a:r>
            <a:endParaRPr lang="en-US" sz="1200" dirty="0"/>
          </a:p>
          <a:p>
            <a:pPr algn="ctr" indent="0" marL="0">
              <a:buNone/>
            </a:pPr>
            <a:r>
              <a:rPr lang="en-US" sz="1200" b="1" dirty="0">
                <a:solidFill>
                  <a:schemeClr val="bg1"/>
                </a:solidFill>
              </a:rPr>
              <a:t>disk</a:t>
            </a:r>
            <a:endParaRPr lang="en-US" sz="1200" dirty="0"/>
          </a:p>
        </p:txBody>
      </p:sp>
      <p:sp>
        <p:nvSpPr>
          <p:cNvPr id="13" name="Shape 10"/>
          <p:cNvSpPr/>
          <p:nvPr/>
        </p:nvSpPr>
        <p:spPr>
          <a:xfrm>
            <a:off x="4434840" y="1805940"/>
            <a:ext cx="137160" cy="0"/>
          </a:xfrm>
          <a:prstGeom prst="line">
            <a:avLst/>
          </a:prstGeom>
          <a:noFill/>
          <a:ln w="22225">
            <a:solidFill>
              <a:schemeClr val="tx2"/>
            </a:solidFill>
            <a:prstDash val="solid"/>
            <a:tailEnd type="triangle"/>
          </a:ln>
        </p:spPr>
      </p:sp>
      <p:sp>
        <p:nvSpPr>
          <p:cNvPr id="14" name="Kotak"/>
          <p:cNvSpPr/>
          <p:nvPr/>
        </p:nvSpPr>
        <p:spPr>
          <a:xfrm>
            <a:off x="4572000" y="1417320"/>
            <a:ext cx="1234440" cy="777240"/>
          </a:xfrm>
          <a:prstGeom prst="roundRect">
            <a:avLst>
              <a:gd name="adj" fmla="val 9412"/>
            </a:avLst>
          </a:prstGeom>
          <a:solidFill>
            <a:schemeClr val="tx2"/>
          </a:solidFill>
          <a:ln w="12700">
            <a:solidFill>
              <a:schemeClr val="tx2"/>
            </a:solidFill>
            <a:prstDash val="solid"/>
          </a:ln>
        </p:spPr>
      </p:sp>
      <p:sp>
        <p:nvSpPr>
          <p:cNvPr id="15" name="Text 12"/>
          <p:cNvSpPr txBox="1"/>
          <p:nvPr/>
        </p:nvSpPr>
        <p:spPr>
          <a:xfrm>
            <a:off x="4572000" y="1417320"/>
            <a:ext cx="123444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Shuffle</a:t>
            </a:r>
            <a:endParaRPr lang="en-US" sz="1200" dirty="0"/>
          </a:p>
          <a:p>
            <a:pPr algn="ctr" indent="0" marL="0">
              <a:buNone/>
            </a:pPr>
            <a:r>
              <a:rPr lang="en-US" sz="1200" b="1" dirty="0">
                <a:solidFill>
                  <a:schemeClr val="bg1"/>
                </a:solidFill>
              </a:rPr>
              <a:t>(jaringan)</a:t>
            </a:r>
            <a:endParaRPr lang="en-US" sz="1200" dirty="0"/>
          </a:p>
        </p:txBody>
      </p:sp>
      <p:sp>
        <p:nvSpPr>
          <p:cNvPr id="16" name="Shape 13"/>
          <p:cNvSpPr/>
          <p:nvPr/>
        </p:nvSpPr>
        <p:spPr>
          <a:xfrm>
            <a:off x="5806440" y="1805940"/>
            <a:ext cx="137160" cy="0"/>
          </a:xfrm>
          <a:prstGeom prst="line">
            <a:avLst/>
          </a:prstGeom>
          <a:noFill/>
          <a:ln w="22225">
            <a:solidFill>
              <a:schemeClr val="tx2"/>
            </a:solidFill>
            <a:prstDash val="solid"/>
            <a:tailEnd type="triangle"/>
          </a:ln>
        </p:spPr>
      </p:sp>
      <p:sp>
        <p:nvSpPr>
          <p:cNvPr id="17" name="Kotak"/>
          <p:cNvSpPr/>
          <p:nvPr/>
        </p:nvSpPr>
        <p:spPr>
          <a:xfrm>
            <a:off x="5943600" y="1417320"/>
            <a:ext cx="1234440" cy="777240"/>
          </a:xfrm>
          <a:prstGeom prst="roundRect">
            <a:avLst>
              <a:gd name="adj" fmla="val 9412"/>
            </a:avLst>
          </a:prstGeom>
          <a:solidFill>
            <a:schemeClr val="tx2"/>
          </a:solidFill>
          <a:ln w="12700">
            <a:solidFill>
              <a:schemeClr val="tx2"/>
            </a:solidFill>
            <a:prstDash val="solid"/>
          </a:ln>
        </p:spPr>
      </p:sp>
      <p:sp>
        <p:nvSpPr>
          <p:cNvPr id="18" name="Text 15"/>
          <p:cNvSpPr txBox="1"/>
          <p:nvPr/>
        </p:nvSpPr>
        <p:spPr>
          <a:xfrm>
            <a:off x="5943600" y="1417320"/>
            <a:ext cx="123444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Reduce</a:t>
            </a:r>
            <a:endParaRPr lang="en-US" sz="1200" dirty="0"/>
          </a:p>
        </p:txBody>
      </p:sp>
      <p:sp>
        <p:nvSpPr>
          <p:cNvPr id="19" name="Shape 16"/>
          <p:cNvSpPr/>
          <p:nvPr/>
        </p:nvSpPr>
        <p:spPr>
          <a:xfrm>
            <a:off x="7178040" y="1805940"/>
            <a:ext cx="137160" cy="0"/>
          </a:xfrm>
          <a:prstGeom prst="line">
            <a:avLst/>
          </a:prstGeom>
          <a:noFill/>
          <a:ln w="22225">
            <a:solidFill>
              <a:schemeClr val="tx2"/>
            </a:solidFill>
            <a:prstDash val="solid"/>
            <a:tailEnd type="triangle"/>
          </a:ln>
        </p:spPr>
      </p:sp>
      <p:sp>
        <p:nvSpPr>
          <p:cNvPr id="20" name="Kotak"/>
          <p:cNvSpPr/>
          <p:nvPr/>
        </p:nvSpPr>
        <p:spPr>
          <a:xfrm>
            <a:off x="7315200" y="1417320"/>
            <a:ext cx="1234440" cy="777240"/>
          </a:xfrm>
          <a:prstGeom prst="roundRect">
            <a:avLst>
              <a:gd name="adj" fmla="val 9412"/>
            </a:avLst>
          </a:prstGeom>
          <a:solidFill>
            <a:schemeClr val="accent6"/>
          </a:solidFill>
          <a:ln w="12700">
            <a:solidFill>
              <a:schemeClr val="accent6"/>
            </a:solidFill>
            <a:prstDash val="solid"/>
          </a:ln>
        </p:spPr>
      </p:sp>
      <p:sp>
        <p:nvSpPr>
          <p:cNvPr id="21" name="Text 18"/>
          <p:cNvSpPr txBox="1"/>
          <p:nvPr/>
        </p:nvSpPr>
        <p:spPr>
          <a:xfrm>
            <a:off x="7315200" y="1417320"/>
            <a:ext cx="123444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Tulis HDFS</a:t>
            </a:r>
            <a:endParaRPr lang="en-US" sz="1200" dirty="0"/>
          </a:p>
          <a:p>
            <a:pPr algn="ctr" indent="0" marL="0">
              <a:buNone/>
            </a:pPr>
            <a:r>
              <a:rPr lang="en-US" sz="1200" b="1" dirty="0">
                <a:solidFill>
                  <a:schemeClr val="bg1"/>
                </a:solidFill>
              </a:rPr>
              <a:t>(replika 3x)</a:t>
            </a:r>
            <a:endParaRPr lang="en-US" sz="1200" dirty="0"/>
          </a:p>
        </p:txBody>
      </p:sp>
      <p:sp>
        <p:nvSpPr>
          <p:cNvPr id="22" name="Text 19"/>
          <p:cNvSpPr txBox="1"/>
          <p:nvPr/>
        </p:nvSpPr>
        <p:spPr>
          <a:xfrm>
            <a:off x="457200" y="2286000"/>
            <a:ext cx="8229600" cy="274320"/>
          </a:xfrm>
          <a:prstGeom prst="rect">
            <a:avLst/>
          </a:prstGeom>
          <a:noFill/>
          <a:ln/>
        </p:spPr>
        <p:txBody>
          <a:bodyPr wrap="square" lIns="0" tIns="0" rIns="0" bIns="0" rtlCol="0" anchor="ctr"/>
          <a:lstStyle/>
          <a:p>
            <a:pPr indent="0" marL="0">
              <a:buNone/>
            </a:pPr>
            <a:r>
              <a:rPr lang="en-US" sz="1200" i="1" dirty="0">
                <a:solidFill>
                  <a:schemeClr val="tx2"/>
                </a:solidFill>
              </a:rPr>
              <a:t>Merah = operasi disk. Setiap iterasi berikutnya mengulang seluruh rantai ini dari awal.</a:t>
            </a:r>
            <a:endParaRPr lang="en-US" sz="1200" dirty="0"/>
          </a:p>
        </p:txBody>
      </p:sp>
      <p:sp>
        <p:nvSpPr>
          <p:cNvPr id="23" name="Kartu"/>
          <p:cNvSpPr/>
          <p:nvPr/>
        </p:nvSpPr>
        <p:spPr>
          <a:xfrm>
            <a:off x="457200" y="2743200"/>
            <a:ext cx="2651760" cy="18288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Lingkaran"/>
          <p:cNvSpPr/>
          <p:nvPr/>
        </p:nvSpPr>
        <p:spPr>
          <a:xfrm>
            <a:off x="640080" y="2907792"/>
            <a:ext cx="420624" cy="420624"/>
          </a:xfrm>
          <a:prstGeom prst="ellipse">
            <a:avLst/>
          </a:prstGeom>
          <a:solidFill>
            <a:schemeClr val="accent6"/>
          </a:solidFill>
          <a:ln w="12700">
            <a:solidFill>
              <a:schemeClr val="accent6"/>
            </a:solidFill>
            <a:prstDash val="solid"/>
          </a:ln>
        </p:spPr>
      </p:sp>
      <p:sp>
        <p:nvSpPr>
          <p:cNvPr id="25" name="Text 22"/>
          <p:cNvSpPr txBox="1"/>
          <p:nvPr/>
        </p:nvSpPr>
        <p:spPr>
          <a:xfrm>
            <a:off x="640080" y="29077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6" name="Text 23"/>
          <p:cNvSpPr txBox="1"/>
          <p:nvPr/>
        </p:nvSpPr>
        <p:spPr>
          <a:xfrm>
            <a:off x="1188720" y="2907792"/>
            <a:ext cx="1828800" cy="420624"/>
          </a:xfrm>
          <a:prstGeom prst="rect">
            <a:avLst/>
          </a:prstGeom>
          <a:noFill/>
          <a:ln/>
        </p:spPr>
        <p:txBody>
          <a:bodyPr wrap="square" lIns="0" tIns="0" rIns="0" bIns="0" rtlCol="0" anchor="ctr"/>
          <a:lstStyle/>
          <a:p>
            <a:pPr indent="0" marL="0">
              <a:buNone/>
            </a:pPr>
            <a:r>
              <a:rPr lang="en-US" sz="1500" b="1" dirty="0">
                <a:solidFill>
                  <a:schemeClr val="tx1"/>
                </a:solidFill>
              </a:rPr>
              <a:t>Disk I/O berlebih</a:t>
            </a:r>
            <a:endParaRPr lang="en-US" sz="1500" dirty="0"/>
          </a:p>
        </p:txBody>
      </p:sp>
      <p:sp>
        <p:nvSpPr>
          <p:cNvPr id="27" name="Text 24"/>
          <p:cNvSpPr txBox="1"/>
          <p:nvPr/>
        </p:nvSpPr>
        <p:spPr>
          <a:xfrm>
            <a:off x="640080" y="3474720"/>
            <a:ext cx="2286000" cy="1005840"/>
          </a:xfrm>
          <a:prstGeom prst="rect">
            <a:avLst/>
          </a:prstGeom>
          <a:noFill/>
          <a:ln/>
        </p:spPr>
        <p:txBody>
          <a:bodyPr wrap="square" lIns="0" tIns="0" rIns="0" bIns="0" rtlCol="0" anchor="t"/>
          <a:lstStyle/>
          <a:p>
            <a:pPr indent="0" marL="0">
              <a:buNone/>
            </a:pPr>
            <a:r>
              <a:rPr lang="en-US" sz="1400" dirty="0">
                <a:solidFill>
                  <a:schemeClr val="tx1"/>
                </a:solidFill>
              </a:rPr>
              <a:t>Hasil antara tiap tahap Map dan Reduce selalu disimpan ke disk.</a:t>
            </a:r>
            <a:endParaRPr lang="en-US" sz="1400" dirty="0"/>
          </a:p>
        </p:txBody>
      </p:sp>
      <p:sp>
        <p:nvSpPr>
          <p:cNvPr id="28" name="Kartu"/>
          <p:cNvSpPr/>
          <p:nvPr/>
        </p:nvSpPr>
        <p:spPr>
          <a:xfrm>
            <a:off x="3291840" y="2743200"/>
            <a:ext cx="2651760" cy="18288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Lingkaran"/>
          <p:cNvSpPr/>
          <p:nvPr/>
        </p:nvSpPr>
        <p:spPr>
          <a:xfrm>
            <a:off x="3474720" y="2907792"/>
            <a:ext cx="420624" cy="420624"/>
          </a:xfrm>
          <a:prstGeom prst="ellipse">
            <a:avLst/>
          </a:prstGeom>
          <a:solidFill>
            <a:schemeClr val="accent6"/>
          </a:solidFill>
          <a:ln w="12700">
            <a:solidFill>
              <a:schemeClr val="accent6"/>
            </a:solidFill>
            <a:prstDash val="solid"/>
          </a:ln>
        </p:spPr>
      </p:sp>
      <p:sp>
        <p:nvSpPr>
          <p:cNvPr id="30" name="Text 27"/>
          <p:cNvSpPr txBox="1"/>
          <p:nvPr/>
        </p:nvSpPr>
        <p:spPr>
          <a:xfrm>
            <a:off x="3474720" y="29077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1" name="Text 28"/>
          <p:cNvSpPr txBox="1"/>
          <p:nvPr/>
        </p:nvSpPr>
        <p:spPr>
          <a:xfrm>
            <a:off x="4023360" y="2907792"/>
            <a:ext cx="1828800" cy="420624"/>
          </a:xfrm>
          <a:prstGeom prst="rect">
            <a:avLst/>
          </a:prstGeom>
          <a:noFill/>
          <a:ln/>
        </p:spPr>
        <p:txBody>
          <a:bodyPr wrap="square" lIns="0" tIns="0" rIns="0" bIns="0" rtlCol="0" anchor="ctr"/>
          <a:lstStyle/>
          <a:p>
            <a:pPr indent="0" marL="0">
              <a:buNone/>
            </a:pPr>
            <a:r>
              <a:rPr lang="en-US" sz="1500" b="1" dirty="0">
                <a:solidFill>
                  <a:schemeClr val="tx1"/>
                </a:solidFill>
              </a:rPr>
              <a:t>Buruk untuk iteratif</a:t>
            </a:r>
            <a:endParaRPr lang="en-US" sz="1500" dirty="0"/>
          </a:p>
        </p:txBody>
      </p:sp>
      <p:sp>
        <p:nvSpPr>
          <p:cNvPr id="32" name="Text 29"/>
          <p:cNvSpPr txBox="1"/>
          <p:nvPr/>
        </p:nvSpPr>
        <p:spPr>
          <a:xfrm>
            <a:off x="3474720" y="3474720"/>
            <a:ext cx="2286000" cy="1005840"/>
          </a:xfrm>
          <a:prstGeom prst="rect">
            <a:avLst/>
          </a:prstGeom>
          <a:noFill/>
          <a:ln/>
        </p:spPr>
        <p:txBody>
          <a:bodyPr wrap="square" lIns="0" tIns="0" rIns="0" bIns="0" rtlCol="0" anchor="t"/>
          <a:lstStyle/>
          <a:p>
            <a:pPr indent="0" marL="0">
              <a:buNone/>
            </a:pPr>
            <a:r>
              <a:rPr lang="en-US" sz="1400" dirty="0">
                <a:solidFill>
                  <a:schemeClr val="tx1"/>
                </a:solidFill>
              </a:rPr>
              <a:t>Tiap iterasi = job baru, data dibaca ulang dari HDFS.</a:t>
            </a:r>
            <a:endParaRPr lang="en-US" sz="1400" dirty="0"/>
          </a:p>
        </p:txBody>
      </p:sp>
      <p:sp>
        <p:nvSpPr>
          <p:cNvPr id="33" name="Kartu"/>
          <p:cNvSpPr/>
          <p:nvPr/>
        </p:nvSpPr>
        <p:spPr>
          <a:xfrm>
            <a:off x="6126480" y="2743200"/>
            <a:ext cx="2651760" cy="18288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4" name="Lingkaran"/>
          <p:cNvSpPr/>
          <p:nvPr/>
        </p:nvSpPr>
        <p:spPr>
          <a:xfrm>
            <a:off x="6309360" y="2907792"/>
            <a:ext cx="420624" cy="420624"/>
          </a:xfrm>
          <a:prstGeom prst="ellipse">
            <a:avLst/>
          </a:prstGeom>
          <a:solidFill>
            <a:schemeClr val="accent6"/>
          </a:solidFill>
          <a:ln w="12700">
            <a:solidFill>
              <a:schemeClr val="accent6"/>
            </a:solidFill>
            <a:prstDash val="solid"/>
          </a:ln>
        </p:spPr>
      </p:sp>
      <p:sp>
        <p:nvSpPr>
          <p:cNvPr id="35" name="Text 32"/>
          <p:cNvSpPr txBox="1"/>
          <p:nvPr/>
        </p:nvSpPr>
        <p:spPr>
          <a:xfrm>
            <a:off x="6309360" y="29077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6" name="Text 33"/>
          <p:cNvSpPr txBox="1"/>
          <p:nvPr/>
        </p:nvSpPr>
        <p:spPr>
          <a:xfrm>
            <a:off x="6858000" y="2907792"/>
            <a:ext cx="1828800" cy="420624"/>
          </a:xfrm>
          <a:prstGeom prst="rect">
            <a:avLst/>
          </a:prstGeom>
          <a:noFill/>
          <a:ln/>
        </p:spPr>
        <p:txBody>
          <a:bodyPr wrap="square" lIns="0" tIns="0" rIns="0" bIns="0" rtlCol="0" anchor="ctr"/>
          <a:lstStyle/>
          <a:p>
            <a:pPr indent="0" marL="0">
              <a:buNone/>
            </a:pPr>
            <a:r>
              <a:rPr lang="en-US" sz="1500" b="1" dirty="0">
                <a:solidFill>
                  <a:schemeClr val="tx1"/>
                </a:solidFill>
              </a:rPr>
              <a:t>Overhead &amp; batch-only</a:t>
            </a:r>
            <a:endParaRPr lang="en-US" sz="1500" dirty="0"/>
          </a:p>
        </p:txBody>
      </p:sp>
      <p:sp>
        <p:nvSpPr>
          <p:cNvPr id="37" name="Text 34"/>
          <p:cNvSpPr txBox="1"/>
          <p:nvPr/>
        </p:nvSpPr>
        <p:spPr>
          <a:xfrm>
            <a:off x="6309360" y="3474720"/>
            <a:ext cx="2286000" cy="1005840"/>
          </a:xfrm>
          <a:prstGeom prst="rect">
            <a:avLst/>
          </a:prstGeom>
          <a:noFill/>
          <a:ln/>
        </p:spPr>
        <p:txBody>
          <a:bodyPr wrap="square" lIns="0" tIns="0" rIns="0" bIns="0" rtlCol="0" anchor="t"/>
          <a:lstStyle/>
          <a:p>
            <a:pPr indent="0" marL="0">
              <a:buNone/>
            </a:pPr>
            <a:r>
              <a:rPr lang="en-US" sz="1400" dirty="0">
                <a:solidFill>
                  <a:schemeClr val="tx1"/>
                </a:solidFill>
              </a:rPr>
              <a:t>Start JVM tiap task, hanya batch, API verbose, satu paradigma.</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Solusi Spark: In-Memory Processing</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1 · EVOLUSI &amp; KONSEP DASAR</a:t>
            </a:r>
            <a:endParaRPr lang="en-US" sz="1200" dirty="0"/>
          </a:p>
        </p:txBody>
      </p:sp>
      <p:sp>
        <p:nvSpPr>
          <p:cNvPr id="5" name="Kartu"/>
          <p:cNvSpPr/>
          <p:nvPr/>
        </p:nvSpPr>
        <p:spPr>
          <a:xfrm>
            <a:off x="457200" y="1371600"/>
            <a:ext cx="2468880" cy="1554480"/>
          </a:xfrm>
          <a:prstGeom prst="roundRect">
            <a:avLst>
              <a:gd name="adj" fmla="val 5882"/>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457200" y="1417320"/>
            <a:ext cx="246888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100x</a:t>
            </a:r>
            <a:endParaRPr lang="en-US" sz="5400" dirty="0"/>
          </a:p>
        </p:txBody>
      </p:sp>
      <p:sp>
        <p:nvSpPr>
          <p:cNvPr id="7" name="Text 4"/>
          <p:cNvSpPr txBox="1"/>
          <p:nvPr/>
        </p:nvSpPr>
        <p:spPr>
          <a:xfrm>
            <a:off x="457200" y="2331720"/>
            <a:ext cx="2468880" cy="457200"/>
          </a:xfrm>
          <a:prstGeom prst="rect">
            <a:avLst/>
          </a:prstGeom>
          <a:noFill/>
          <a:ln/>
        </p:spPr>
        <p:txBody>
          <a:bodyPr wrap="square" lIns="0" tIns="0" rIns="0" bIns="0" rtlCol="0" anchor="ctr"/>
          <a:lstStyle/>
          <a:p>
            <a:pPr algn="ctr" indent="0" marL="0">
              <a:buNone/>
            </a:pPr>
            <a:r>
              <a:rPr lang="en-US" sz="1400" dirty="0">
                <a:solidFill>
                  <a:schemeClr val="bg1"/>
                </a:solidFill>
              </a:rPr>
              <a:t>lebih cepat (in-memory)</a:t>
            </a:r>
            <a:endParaRPr lang="en-US" sz="1400" dirty="0"/>
          </a:p>
        </p:txBody>
      </p:sp>
      <p:sp>
        <p:nvSpPr>
          <p:cNvPr id="8" name="Kartu"/>
          <p:cNvSpPr/>
          <p:nvPr/>
        </p:nvSpPr>
        <p:spPr>
          <a:xfrm>
            <a:off x="457200" y="3108960"/>
            <a:ext cx="2468880" cy="1463040"/>
          </a:xfrm>
          <a:prstGeom prst="roundRect">
            <a:avLst>
              <a:gd name="adj" fmla="val 6250"/>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7200" y="3154680"/>
            <a:ext cx="2468880" cy="822960"/>
          </a:xfrm>
          <a:prstGeom prst="rect">
            <a:avLst/>
          </a:prstGeom>
          <a:noFill/>
          <a:ln/>
        </p:spPr>
        <p:txBody>
          <a:bodyPr wrap="square" lIns="0" tIns="0" rIns="0" bIns="0" rtlCol="0" anchor="ctr"/>
          <a:lstStyle/>
          <a:p>
            <a:pPr algn="ctr" indent="0" marL="0">
              <a:buNone/>
            </a:pPr>
            <a:r>
              <a:rPr lang="en-US" sz="5400" b="1" dirty="0">
                <a:solidFill>
                  <a:schemeClr val="accent3"/>
                </a:solidFill>
                <a:latin typeface="Cambria" pitchFamily="34" charset="0"/>
                <a:ea typeface="Cambria" pitchFamily="34" charset="-122"/>
                <a:cs typeface="Cambria" pitchFamily="34" charset="-120"/>
              </a:rPr>
              <a:t>10x</a:t>
            </a:r>
            <a:endParaRPr lang="en-US" sz="5400" dirty="0"/>
          </a:p>
        </p:txBody>
      </p:sp>
      <p:sp>
        <p:nvSpPr>
          <p:cNvPr id="10" name="Text 7"/>
          <p:cNvSpPr txBox="1"/>
          <p:nvPr/>
        </p:nvSpPr>
        <p:spPr>
          <a:xfrm>
            <a:off x="457200" y="3977640"/>
            <a:ext cx="2468880" cy="457200"/>
          </a:xfrm>
          <a:prstGeom prst="rect">
            <a:avLst/>
          </a:prstGeom>
          <a:noFill/>
          <a:ln/>
        </p:spPr>
        <p:txBody>
          <a:bodyPr wrap="square" lIns="0" tIns="0" rIns="0" bIns="0" rtlCol="0" anchor="ctr"/>
          <a:lstStyle/>
          <a:p>
            <a:pPr algn="ctr" indent="0" marL="0">
              <a:buNone/>
            </a:pPr>
            <a:r>
              <a:rPr lang="en-US" sz="1400" dirty="0">
                <a:solidFill>
                  <a:schemeClr val="bg1"/>
                </a:solidFill>
              </a:rPr>
              <a:t>lebih cepat (di disk)</a:t>
            </a:r>
            <a:endParaRPr lang="en-US" sz="1400" dirty="0"/>
          </a:p>
        </p:txBody>
      </p:sp>
      <p:sp>
        <p:nvSpPr>
          <p:cNvPr id="11" name="Lingkaran"/>
          <p:cNvSpPr/>
          <p:nvPr/>
        </p:nvSpPr>
        <p:spPr>
          <a:xfrm>
            <a:off x="3246120" y="1444752"/>
            <a:ext cx="420624" cy="420624"/>
          </a:xfrm>
          <a:prstGeom prst="ellipse">
            <a:avLst/>
          </a:prstGeom>
          <a:solidFill>
            <a:schemeClr val="accent5"/>
          </a:solidFill>
          <a:ln w="12700">
            <a:solidFill>
              <a:schemeClr val="accent5"/>
            </a:solidFill>
            <a:prstDash val="solid"/>
          </a:ln>
        </p:spPr>
      </p:sp>
      <p:sp>
        <p:nvSpPr>
          <p:cNvPr id="12" name="Text 9"/>
          <p:cNvSpPr txBox="1"/>
          <p:nvPr/>
        </p:nvSpPr>
        <p:spPr>
          <a:xfrm>
            <a:off x="3246120" y="144475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Text 10"/>
          <p:cNvSpPr txBox="1"/>
          <p:nvPr/>
        </p:nvSpPr>
        <p:spPr>
          <a:xfrm>
            <a:off x="3840480" y="1371600"/>
            <a:ext cx="4846320" cy="731520"/>
          </a:xfrm>
          <a:prstGeom prst="rect">
            <a:avLst/>
          </a:prstGeom>
          <a:noFill/>
          <a:ln/>
        </p:spPr>
        <p:txBody>
          <a:bodyPr wrap="square" lIns="0" tIns="0" rIns="0" bIns="0" rtlCol="0" anchor="ctr"/>
          <a:lstStyle/>
          <a:p>
            <a:pPr indent="0" marL="0">
              <a:buNone/>
            </a:pPr>
            <a:r>
              <a:rPr lang="en-US" sz="1600" b="1" dirty="0">
                <a:solidFill>
                  <a:schemeClr val="tx1"/>
                </a:solidFill>
              </a:rPr>
              <a:t>Data tetap di RAM</a:t>
            </a:r>
            <a:endParaRPr lang="en-US" sz="1600" dirty="0"/>
          </a:p>
          <a:p>
            <a:pPr indent="0" marL="0">
              <a:buNone/>
            </a:pPr>
            <a:r>
              <a:rPr lang="en-US" sz="1400" dirty="0">
                <a:solidFill>
                  <a:schemeClr val="tx2"/>
                </a:solidFill>
              </a:rPr>
              <a:t>RDD/DataFrame di-cache; iterasi berikutnya langsung membaca dari memori.</a:t>
            </a:r>
            <a:endParaRPr lang="en-US" sz="1600" dirty="0"/>
          </a:p>
        </p:txBody>
      </p:sp>
      <p:sp>
        <p:nvSpPr>
          <p:cNvPr id="14" name="Lingkaran"/>
          <p:cNvSpPr/>
          <p:nvPr/>
        </p:nvSpPr>
        <p:spPr>
          <a:xfrm>
            <a:off x="3246120" y="2249424"/>
            <a:ext cx="420624" cy="420624"/>
          </a:xfrm>
          <a:prstGeom prst="ellipse">
            <a:avLst/>
          </a:prstGeom>
          <a:solidFill>
            <a:schemeClr val="accent5"/>
          </a:solidFill>
          <a:ln w="12700">
            <a:solidFill>
              <a:schemeClr val="accent5"/>
            </a:solidFill>
            <a:prstDash val="solid"/>
          </a:ln>
        </p:spPr>
      </p:sp>
      <p:sp>
        <p:nvSpPr>
          <p:cNvPr id="15" name="Text 12"/>
          <p:cNvSpPr txBox="1"/>
          <p:nvPr/>
        </p:nvSpPr>
        <p:spPr>
          <a:xfrm>
            <a:off x="3246120" y="22494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Text 13"/>
          <p:cNvSpPr txBox="1"/>
          <p:nvPr/>
        </p:nvSpPr>
        <p:spPr>
          <a:xfrm>
            <a:off x="3840480" y="2176272"/>
            <a:ext cx="4846320" cy="731520"/>
          </a:xfrm>
          <a:prstGeom prst="rect">
            <a:avLst/>
          </a:prstGeom>
          <a:noFill/>
          <a:ln/>
        </p:spPr>
        <p:txBody>
          <a:bodyPr wrap="square" lIns="0" tIns="0" rIns="0" bIns="0" rtlCol="0" anchor="ctr"/>
          <a:lstStyle/>
          <a:p>
            <a:pPr indent="0" marL="0">
              <a:buNone/>
            </a:pPr>
            <a:r>
              <a:rPr lang="en-US" sz="1600" b="1" dirty="0">
                <a:solidFill>
                  <a:schemeClr val="tx1"/>
                </a:solidFill>
              </a:rPr>
              <a:t>Pipelining via DAG</a:t>
            </a:r>
            <a:endParaRPr lang="en-US" sz="1600" dirty="0"/>
          </a:p>
          <a:p>
            <a:pPr indent="0" marL="0">
              <a:buNone/>
            </a:pPr>
            <a:r>
              <a:rPr lang="en-US" sz="1400" dirty="0">
                <a:solidFill>
                  <a:schemeClr val="tx2"/>
                </a:solidFill>
              </a:rPr>
              <a:t>Beberapa operasi digabung dalam satu pass, tanpa menulis hasil antara.</a:t>
            </a:r>
            <a:endParaRPr lang="en-US" sz="1600" dirty="0"/>
          </a:p>
        </p:txBody>
      </p:sp>
      <p:sp>
        <p:nvSpPr>
          <p:cNvPr id="17" name="Lingkaran"/>
          <p:cNvSpPr/>
          <p:nvPr/>
        </p:nvSpPr>
        <p:spPr>
          <a:xfrm>
            <a:off x="3246120" y="3054096"/>
            <a:ext cx="420624" cy="420624"/>
          </a:xfrm>
          <a:prstGeom prst="ellipse">
            <a:avLst/>
          </a:prstGeom>
          <a:solidFill>
            <a:schemeClr val="accent5"/>
          </a:solidFill>
          <a:ln w="12700">
            <a:solidFill>
              <a:schemeClr val="accent5"/>
            </a:solidFill>
            <a:prstDash val="solid"/>
          </a:ln>
        </p:spPr>
      </p:sp>
      <p:sp>
        <p:nvSpPr>
          <p:cNvPr id="18" name="Text 15"/>
          <p:cNvSpPr txBox="1"/>
          <p:nvPr/>
        </p:nvSpPr>
        <p:spPr>
          <a:xfrm>
            <a:off x="3246120" y="305409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3840480" y="2980944"/>
            <a:ext cx="4846320" cy="731520"/>
          </a:xfrm>
          <a:prstGeom prst="rect">
            <a:avLst/>
          </a:prstGeom>
          <a:noFill/>
          <a:ln/>
        </p:spPr>
        <p:txBody>
          <a:bodyPr wrap="square" lIns="0" tIns="0" rIns="0" bIns="0" rtlCol="0" anchor="ctr"/>
          <a:lstStyle/>
          <a:p>
            <a:pPr indent="0" marL="0">
              <a:buNone/>
            </a:pPr>
            <a:r>
              <a:rPr lang="en-US" sz="1600" b="1" dirty="0">
                <a:solidFill>
                  <a:schemeClr val="tx1"/>
                </a:solidFill>
              </a:rPr>
              <a:t>Tahan gagal tanpa replikasi disk</a:t>
            </a:r>
            <a:endParaRPr lang="en-US" sz="1600" dirty="0"/>
          </a:p>
          <a:p>
            <a:pPr indent="0" marL="0">
              <a:buNone/>
            </a:pPr>
            <a:r>
              <a:rPr lang="en-US" sz="1400" dirty="0">
                <a:solidFill>
                  <a:schemeClr val="tx2"/>
                </a:solidFill>
              </a:rPr>
              <a:t>Lineage: partisi hilang dihitung ulang dari transformasi asalnya.</a:t>
            </a:r>
            <a:endParaRPr lang="en-US" sz="1600" dirty="0"/>
          </a:p>
        </p:txBody>
      </p:sp>
      <p:sp>
        <p:nvSpPr>
          <p:cNvPr id="20" name="Lingkaran"/>
          <p:cNvSpPr/>
          <p:nvPr/>
        </p:nvSpPr>
        <p:spPr>
          <a:xfrm>
            <a:off x="3246120" y="3858768"/>
            <a:ext cx="420624" cy="420624"/>
          </a:xfrm>
          <a:prstGeom prst="ellipse">
            <a:avLst/>
          </a:prstGeom>
          <a:solidFill>
            <a:schemeClr val="accent5"/>
          </a:solidFill>
          <a:ln w="12700">
            <a:solidFill>
              <a:schemeClr val="accent5"/>
            </a:solidFill>
            <a:prstDash val="solid"/>
          </a:ln>
        </p:spPr>
      </p:sp>
      <p:sp>
        <p:nvSpPr>
          <p:cNvPr id="21" name="Text 18"/>
          <p:cNvSpPr txBox="1"/>
          <p:nvPr/>
        </p:nvSpPr>
        <p:spPr>
          <a:xfrm>
            <a:off x="3246120" y="38587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3840480" y="3785616"/>
            <a:ext cx="4846320" cy="731520"/>
          </a:xfrm>
          <a:prstGeom prst="rect">
            <a:avLst/>
          </a:prstGeom>
          <a:noFill/>
          <a:ln/>
        </p:spPr>
        <p:txBody>
          <a:bodyPr wrap="square" lIns="0" tIns="0" rIns="0" bIns="0" rtlCol="0" anchor="ctr"/>
          <a:lstStyle/>
          <a:p>
            <a:pPr indent="0" marL="0">
              <a:buNone/>
            </a:pPr>
            <a:r>
              <a:rPr lang="en-US" sz="1600" b="1" dirty="0">
                <a:solidFill>
                  <a:schemeClr val="tx1"/>
                </a:solidFill>
              </a:rPr>
              <a:t>Executor jangka panjang</a:t>
            </a:r>
            <a:endParaRPr lang="en-US" sz="1600" dirty="0"/>
          </a:p>
          <a:p>
            <a:pPr indent="0" marL="0">
              <a:buNone/>
            </a:pPr>
            <a:r>
              <a:rPr lang="en-US" sz="1400" dirty="0">
                <a:solidFill>
                  <a:schemeClr val="tx2"/>
                </a:solidFill>
              </a:rPr>
              <a:t>Proses JVM dipakai ulang oleh banyak task, tanpa start-up tiap kali.</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Transformations vs Actions</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2 · LAZY EVALUATION &amp; DAG</a:t>
            </a:r>
            <a:endParaRPr lang="en-US" sz="1200" dirty="0"/>
          </a:p>
        </p:txBody>
      </p:sp>
      <p:sp>
        <p:nvSpPr>
          <p:cNvPr id="5" name="Kartu"/>
          <p:cNvSpPr/>
          <p:nvPr/>
        </p:nvSpPr>
        <p:spPr>
          <a:xfrm>
            <a:off x="457200" y="1371600"/>
            <a:ext cx="4023360" cy="2103120"/>
          </a:xfrm>
          <a:prstGeom prst="roundRect">
            <a:avLst>
              <a:gd name="adj" fmla="val 43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Kartu"/>
          <p:cNvSpPr/>
          <p:nvPr/>
        </p:nvSpPr>
        <p:spPr>
          <a:xfrm>
            <a:off x="4663440" y="1371600"/>
            <a:ext cx="4023360" cy="2103120"/>
          </a:xfrm>
          <a:prstGeom prst="roundRect">
            <a:avLst>
              <a:gd name="adj" fmla="val 43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40080" y="1463040"/>
            <a:ext cx="3657600" cy="320040"/>
          </a:xfrm>
          <a:prstGeom prst="rect">
            <a:avLst/>
          </a:prstGeom>
          <a:noFill/>
          <a:ln/>
        </p:spPr>
        <p:txBody>
          <a:bodyPr wrap="square" lIns="0" tIns="0" rIns="0" bIns="0" rtlCol="0" anchor="ctr"/>
          <a:lstStyle/>
          <a:p>
            <a:pPr indent="0" marL="0">
              <a:buNone/>
            </a:pPr>
            <a:r>
              <a:rPr lang="en-US" sz="1800" b="1" dirty="0">
                <a:solidFill>
                  <a:schemeClr val="accent2"/>
                </a:solidFill>
              </a:rPr>
              <a:t>Transformation · Lazy</a:t>
            </a:r>
            <a:endParaRPr lang="en-US" sz="1800" dirty="0"/>
          </a:p>
        </p:txBody>
      </p:sp>
      <p:sp>
        <p:nvSpPr>
          <p:cNvPr id="8" name="Text 5"/>
          <p:cNvSpPr txBox="1"/>
          <p:nvPr/>
        </p:nvSpPr>
        <p:spPr>
          <a:xfrm>
            <a:off x="640080" y="1874520"/>
            <a:ext cx="365760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Hanya mencatat rencana</a:t>
            </a:r>
            <a:endParaRPr lang="en-US" sz="1400" dirty="0"/>
          </a:p>
          <a:p>
            <a:pPr marL="342900" indent="-342900">
              <a:spcAft>
                <a:spcPts val="500"/>
              </a:spcAft>
              <a:buSzPct val="100000"/>
              <a:buChar char="•"/>
            </a:pPr>
            <a:r>
              <a:rPr lang="en-US" sz="1400" dirty="0">
                <a:solidFill>
                  <a:schemeClr val="tx1"/>
                </a:solidFill>
              </a:rPr>
              <a:t>Narrow: map, filter, select, where</a:t>
            </a:r>
            <a:endParaRPr lang="en-US" sz="1400" dirty="0"/>
          </a:p>
          <a:p>
            <a:pPr marL="342900" indent="-342900">
              <a:spcAft>
                <a:spcPts val="500"/>
              </a:spcAft>
              <a:buSzPct val="100000"/>
              <a:buChar char="•"/>
            </a:pPr>
            <a:r>
              <a:rPr lang="en-US" sz="1400" dirty="0">
                <a:solidFill>
                  <a:schemeClr val="tx1"/>
                </a:solidFill>
              </a:rPr>
              <a:t>Wide (shuffle): groupBy, join, orderBy</a:t>
            </a:r>
            <a:endParaRPr lang="en-US" sz="1400" dirty="0"/>
          </a:p>
          <a:p>
            <a:pPr marL="342900" indent="-342900">
              <a:spcAft>
                <a:spcPts val="500"/>
              </a:spcAft>
              <a:buSzPct val="100000"/>
              <a:buChar char="•"/>
            </a:pPr>
            <a:r>
              <a:rPr lang="en-US" sz="1400" dirty="0">
                <a:solidFill>
                  <a:schemeClr val="tx1"/>
                </a:solidFill>
              </a:rPr>
              <a:t>Hasil: DataFrame/RDD baru</a:t>
            </a:r>
            <a:endParaRPr lang="en-US" sz="1400" dirty="0"/>
          </a:p>
        </p:txBody>
      </p:sp>
      <p:sp>
        <p:nvSpPr>
          <p:cNvPr id="9" name="Text 6"/>
          <p:cNvSpPr txBox="1"/>
          <p:nvPr/>
        </p:nvSpPr>
        <p:spPr>
          <a:xfrm>
            <a:off x="4846320" y="1463040"/>
            <a:ext cx="3657600" cy="320040"/>
          </a:xfrm>
          <a:prstGeom prst="rect">
            <a:avLst/>
          </a:prstGeom>
          <a:noFill/>
          <a:ln/>
        </p:spPr>
        <p:txBody>
          <a:bodyPr wrap="square" lIns="0" tIns="0" rIns="0" bIns="0" rtlCol="0" anchor="ctr"/>
          <a:lstStyle/>
          <a:p>
            <a:pPr indent="0" marL="0">
              <a:buNone/>
            </a:pPr>
            <a:r>
              <a:rPr lang="en-US" sz="1800" b="1" dirty="0">
                <a:solidFill>
                  <a:schemeClr val="accent1"/>
                </a:solidFill>
              </a:rPr>
              <a:t>Action · Eager</a:t>
            </a:r>
            <a:endParaRPr lang="en-US" sz="1800" dirty="0"/>
          </a:p>
        </p:txBody>
      </p:sp>
      <p:sp>
        <p:nvSpPr>
          <p:cNvPr id="10" name="Text 7"/>
          <p:cNvSpPr txBox="1"/>
          <p:nvPr/>
        </p:nvSpPr>
        <p:spPr>
          <a:xfrm>
            <a:off x="4846320" y="1874520"/>
            <a:ext cx="365760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Memicu eksekusi seluruh rencana</a:t>
            </a:r>
            <a:endParaRPr lang="en-US" sz="1400" dirty="0"/>
          </a:p>
          <a:p>
            <a:pPr marL="342900" indent="-342900">
              <a:spcAft>
                <a:spcPts val="500"/>
              </a:spcAft>
              <a:buSzPct val="100000"/>
              <a:buChar char="•"/>
            </a:pPr>
            <a:r>
              <a:rPr lang="en-US" sz="1400" dirty="0">
                <a:solidFill>
                  <a:schemeClr val="tx1"/>
                </a:solidFill>
              </a:rPr>
              <a:t>Mengembalikan hasil ke Driver: count, collect, show, take</a:t>
            </a:r>
            <a:endParaRPr lang="en-US" sz="1400" dirty="0"/>
          </a:p>
          <a:p>
            <a:pPr marL="342900" indent="-342900">
              <a:spcAft>
                <a:spcPts val="500"/>
              </a:spcAft>
              <a:buSzPct val="100000"/>
              <a:buChar char="•"/>
            </a:pPr>
            <a:r>
              <a:rPr lang="en-US" sz="1400" dirty="0">
                <a:solidFill>
                  <a:schemeClr val="tx1"/>
                </a:solidFill>
              </a:rPr>
              <a:t>Atau menulis ke penyimpanan: write, save</a:t>
            </a:r>
            <a:endParaRPr lang="en-US" sz="1400" dirty="0"/>
          </a:p>
          <a:p>
            <a:pPr marL="342900" indent="-342900">
              <a:spcAft>
                <a:spcPts val="500"/>
              </a:spcAft>
              <a:buSzPct val="100000"/>
              <a:buChar char="•"/>
            </a:pPr>
            <a:r>
              <a:rPr lang="en-US" sz="1400" dirty="0">
                <a:solidFill>
                  <a:schemeClr val="tx1"/>
                </a:solidFill>
              </a:rPr>
              <a:t>Satu action = satu atau lebih job</a:t>
            </a:r>
            <a:endParaRPr lang="en-US" sz="1400" dirty="0"/>
          </a:p>
        </p:txBody>
      </p:sp>
      <p:sp>
        <p:nvSpPr>
          <p:cNvPr id="11" name="Kartu"/>
          <p:cNvSpPr/>
          <p:nvPr/>
        </p:nvSpPr>
        <p:spPr>
          <a:xfrm>
            <a:off x="457200" y="3657600"/>
            <a:ext cx="8229600" cy="1005840"/>
          </a:xfrm>
          <a:prstGeom prst="roundRect">
            <a:avLst>
              <a:gd name="adj" fmla="val 9091"/>
            </a:avLst>
          </a:prstGeom>
          <a:solidFill>
            <a:schemeClr val="tx1"/>
          </a:solidFill>
          <a:ln w="12700">
            <a:solidFill>
              <a:schemeClr val="tx1"/>
            </a:solidFill>
            <a:prstDash val="solid"/>
          </a:ln>
        </p:spPr>
      </p:sp>
      <p:sp>
        <p:nvSpPr>
          <p:cNvPr id="12" name="Text 9"/>
          <p:cNvSpPr txBox="1"/>
          <p:nvPr/>
        </p:nvSpPr>
        <p:spPr>
          <a:xfrm>
            <a:off x="640080" y="3721608"/>
            <a:ext cx="7863840" cy="86868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df = spark.read.parquet("log")                 </a:t>
            </a:r>
            <a:endParaRPr lang="en-US" sz="1200" dirty="0"/>
          </a:p>
          <a:p>
            <a:pPr indent="0" marL="0">
              <a:buNone/>
            </a:pPr>
            <a:r>
              <a:rPr lang="en-US" sz="1200" dirty="0">
                <a:solidFill>
                  <a:srgbClr val="F2B134"/>
                </a:solidFill>
                <a:latin typeface="Courier New" pitchFamily="34" charset="0"/>
                <a:ea typeface="Courier New" pitchFamily="34" charset="-122"/>
                <a:cs typeface="Courier New" pitchFamily="34" charset="-120"/>
              </a:rPr>
              <a:t>r  = df.filter("status = 500").groupBy("host").count()   </a:t>
            </a:r>
            <a:pPr indent="0" marL="0">
              <a:buNone/>
            </a:pPr>
            <a:r>
              <a:rPr lang="en-US" sz="1200" dirty="0">
                <a:solidFill>
                  <a:srgbClr val="9CA3AF"/>
                </a:solidFill>
                <a:latin typeface="Courier New" pitchFamily="34" charset="0"/>
                <a:ea typeface="Courier New" pitchFamily="34" charset="-122"/>
                <a:cs typeface="Courier New" pitchFamily="34" charset="-120"/>
              </a:rPr>
              <a:t># lazy: tidak ada data dibaca</a:t>
            </a:r>
            <a:endParaRPr lang="en-US" sz="1200" dirty="0"/>
          </a:p>
          <a:p>
            <a:pPr indent="0" marL="0">
              <a:buNone/>
            </a:pPr>
            <a:r>
              <a:rPr lang="en-US" sz="1200" dirty="0">
                <a:solidFill>
                  <a:srgbClr val="F2A07A"/>
                </a:solidFill>
                <a:latin typeface="Courier New" pitchFamily="34" charset="0"/>
                <a:ea typeface="Courier New" pitchFamily="34" charset="-122"/>
                <a:cs typeface="Courier New" pitchFamily="34" charset="-120"/>
              </a:rPr>
              <a:t>r.show()                                         </a:t>
            </a:r>
            <a:pPr indent="0" marL="0">
              <a:buNone/>
            </a:pPr>
            <a:r>
              <a:rPr lang="en-US" sz="1200" dirty="0">
                <a:solidFill>
                  <a:srgbClr val="9CA3AF"/>
                </a:solidFill>
                <a:latin typeface="Courier New" pitchFamily="34" charset="0"/>
                <a:ea typeface="Courier New" pitchFamily="34" charset="-122"/>
                <a:cs typeface="Courier New" pitchFamily="34" charset="-120"/>
              </a:rPr>
              <a:t># action: eksekusi dimulai</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Peran DAG dalam Optimisasi</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2 · LAZY EVALUATION &amp; DAG</a:t>
            </a:r>
            <a:endParaRPr lang="en-US" sz="1200" dirty="0"/>
          </a:p>
        </p:txBody>
      </p:sp>
      <p:sp>
        <p:nvSpPr>
          <p:cNvPr id="5" name="Kotak"/>
          <p:cNvSpPr/>
          <p:nvPr/>
        </p:nvSpPr>
        <p:spPr>
          <a:xfrm>
            <a:off x="457200" y="1417320"/>
            <a:ext cx="1463040" cy="822960"/>
          </a:xfrm>
          <a:prstGeom prst="roundRect">
            <a:avLst>
              <a:gd name="adj" fmla="val 8889"/>
            </a:avLst>
          </a:prstGeom>
          <a:solidFill>
            <a:schemeClr val="accent4"/>
          </a:solidFill>
          <a:ln w="12700">
            <a:solidFill>
              <a:schemeClr val="accent4"/>
            </a:solidFill>
            <a:prstDash val="solid"/>
          </a:ln>
        </p:spPr>
      </p:sp>
      <p:sp>
        <p:nvSpPr>
          <p:cNvPr id="6" name="Text 3"/>
          <p:cNvSpPr txBox="1"/>
          <p:nvPr/>
        </p:nvSpPr>
        <p:spPr>
          <a:xfrm>
            <a:off x="457200" y="1417320"/>
            <a:ext cx="1463040" cy="822960"/>
          </a:xfrm>
          <a:prstGeom prst="rect">
            <a:avLst/>
          </a:prstGeom>
          <a:noFill/>
          <a:ln/>
        </p:spPr>
        <p:txBody>
          <a:bodyPr wrap="square" lIns="508" tIns="508" rIns="508" bIns="508" rtlCol="0" anchor="ctr"/>
          <a:lstStyle/>
          <a:p>
            <a:pPr algn="ctr" indent="0" marL="0">
              <a:buNone/>
            </a:pPr>
            <a:r>
              <a:rPr lang="en-US" sz="1300" b="1" dirty="0">
                <a:solidFill>
                  <a:schemeClr val="bg1"/>
                </a:solidFill>
              </a:rPr>
              <a:t>Kode</a:t>
            </a:r>
            <a:endParaRPr lang="en-US" sz="1300" dirty="0"/>
          </a:p>
          <a:p>
            <a:pPr algn="ctr" indent="0" marL="0">
              <a:buNone/>
            </a:pPr>
            <a:r>
              <a:rPr lang="en-US" sz="1300" b="1" dirty="0">
                <a:solidFill>
                  <a:schemeClr val="bg1"/>
                </a:solidFill>
              </a:rPr>
              <a:t>transformasi</a:t>
            </a:r>
            <a:endParaRPr lang="en-US" sz="1300" dirty="0"/>
          </a:p>
        </p:txBody>
      </p:sp>
      <p:sp>
        <p:nvSpPr>
          <p:cNvPr id="7" name="Shape 4"/>
          <p:cNvSpPr/>
          <p:nvPr/>
        </p:nvSpPr>
        <p:spPr>
          <a:xfrm>
            <a:off x="1920240" y="1828800"/>
            <a:ext cx="228600" cy="0"/>
          </a:xfrm>
          <a:prstGeom prst="line">
            <a:avLst/>
          </a:prstGeom>
          <a:noFill/>
          <a:ln w="22225">
            <a:solidFill>
              <a:schemeClr val="tx2"/>
            </a:solidFill>
            <a:prstDash val="solid"/>
            <a:tailEnd type="triangle"/>
          </a:ln>
        </p:spPr>
      </p:sp>
      <p:sp>
        <p:nvSpPr>
          <p:cNvPr id="8" name="Kotak"/>
          <p:cNvSpPr/>
          <p:nvPr/>
        </p:nvSpPr>
        <p:spPr>
          <a:xfrm>
            <a:off x="2148840" y="1417320"/>
            <a:ext cx="1463040" cy="822960"/>
          </a:xfrm>
          <a:prstGeom prst="roundRect">
            <a:avLst>
              <a:gd name="adj" fmla="val 8889"/>
            </a:avLst>
          </a:prstGeom>
          <a:solidFill>
            <a:schemeClr val="accent2"/>
          </a:solidFill>
          <a:ln w="12700">
            <a:solidFill>
              <a:schemeClr val="accent2"/>
            </a:solidFill>
            <a:prstDash val="solid"/>
          </a:ln>
        </p:spPr>
      </p:sp>
      <p:sp>
        <p:nvSpPr>
          <p:cNvPr id="9" name="Text 6"/>
          <p:cNvSpPr txBox="1"/>
          <p:nvPr/>
        </p:nvSpPr>
        <p:spPr>
          <a:xfrm>
            <a:off x="2148840" y="1417320"/>
            <a:ext cx="1463040" cy="822960"/>
          </a:xfrm>
          <a:prstGeom prst="rect">
            <a:avLst/>
          </a:prstGeom>
          <a:noFill/>
          <a:ln/>
        </p:spPr>
        <p:txBody>
          <a:bodyPr wrap="square" lIns="508" tIns="508" rIns="508" bIns="508" rtlCol="0" anchor="ctr"/>
          <a:lstStyle/>
          <a:p>
            <a:pPr algn="ctr" indent="0" marL="0">
              <a:buNone/>
            </a:pPr>
            <a:r>
              <a:rPr lang="en-US" sz="1300" b="1" dirty="0">
                <a:solidFill>
                  <a:schemeClr val="bg1"/>
                </a:solidFill>
              </a:rPr>
              <a:t>DAG</a:t>
            </a:r>
            <a:endParaRPr lang="en-US" sz="1300" dirty="0"/>
          </a:p>
          <a:p>
            <a:pPr algn="ctr" indent="0" marL="0">
              <a:buNone/>
            </a:pPr>
            <a:r>
              <a:rPr lang="en-US" sz="1300" b="1" dirty="0">
                <a:solidFill>
                  <a:schemeClr val="bg1"/>
                </a:solidFill>
              </a:rPr>
              <a:t>(logical)</a:t>
            </a:r>
            <a:endParaRPr lang="en-US" sz="1300" dirty="0"/>
          </a:p>
        </p:txBody>
      </p:sp>
      <p:sp>
        <p:nvSpPr>
          <p:cNvPr id="10" name="Shape 7"/>
          <p:cNvSpPr/>
          <p:nvPr/>
        </p:nvSpPr>
        <p:spPr>
          <a:xfrm>
            <a:off x="3611880" y="1828800"/>
            <a:ext cx="228600" cy="0"/>
          </a:xfrm>
          <a:prstGeom prst="line">
            <a:avLst/>
          </a:prstGeom>
          <a:noFill/>
          <a:ln w="22225">
            <a:solidFill>
              <a:schemeClr val="tx2"/>
            </a:solidFill>
            <a:prstDash val="solid"/>
            <a:tailEnd type="triangle"/>
          </a:ln>
        </p:spPr>
      </p:sp>
      <p:sp>
        <p:nvSpPr>
          <p:cNvPr id="11" name="Kotak"/>
          <p:cNvSpPr/>
          <p:nvPr/>
        </p:nvSpPr>
        <p:spPr>
          <a:xfrm>
            <a:off x="3840480" y="1417320"/>
            <a:ext cx="1463040" cy="822960"/>
          </a:xfrm>
          <a:prstGeom prst="roundRect">
            <a:avLst>
              <a:gd name="adj" fmla="val 8889"/>
            </a:avLst>
          </a:prstGeom>
          <a:solidFill>
            <a:schemeClr val="accent5"/>
          </a:solidFill>
          <a:ln w="12700">
            <a:solidFill>
              <a:schemeClr val="accent5"/>
            </a:solidFill>
            <a:prstDash val="solid"/>
          </a:ln>
        </p:spPr>
      </p:sp>
      <p:sp>
        <p:nvSpPr>
          <p:cNvPr id="12" name="Text 9"/>
          <p:cNvSpPr txBox="1"/>
          <p:nvPr/>
        </p:nvSpPr>
        <p:spPr>
          <a:xfrm>
            <a:off x="3840480" y="1417320"/>
            <a:ext cx="1463040" cy="822960"/>
          </a:xfrm>
          <a:prstGeom prst="rect">
            <a:avLst/>
          </a:prstGeom>
          <a:noFill/>
          <a:ln/>
        </p:spPr>
        <p:txBody>
          <a:bodyPr wrap="square" lIns="508" tIns="508" rIns="508" bIns="508" rtlCol="0" anchor="ctr"/>
          <a:lstStyle/>
          <a:p>
            <a:pPr algn="ctr" indent="0" marL="0">
              <a:buNone/>
            </a:pPr>
            <a:r>
              <a:rPr lang="en-US" sz="1300" b="1" dirty="0">
                <a:solidFill>
                  <a:schemeClr val="bg1"/>
                </a:solidFill>
              </a:rPr>
              <a:t>Optimisasi</a:t>
            </a:r>
            <a:endParaRPr lang="en-US" sz="1300" dirty="0"/>
          </a:p>
          <a:p>
            <a:pPr algn="ctr" indent="0" marL="0">
              <a:buNone/>
            </a:pPr>
            <a:r>
              <a:rPr lang="en-US" sz="1300" b="1" dirty="0">
                <a:solidFill>
                  <a:schemeClr val="bg1"/>
                </a:solidFill>
              </a:rPr>
              <a:t>rencana</a:t>
            </a:r>
            <a:endParaRPr lang="en-US" sz="1300" dirty="0"/>
          </a:p>
        </p:txBody>
      </p:sp>
      <p:sp>
        <p:nvSpPr>
          <p:cNvPr id="13" name="Shape 10"/>
          <p:cNvSpPr/>
          <p:nvPr/>
        </p:nvSpPr>
        <p:spPr>
          <a:xfrm>
            <a:off x="5303520" y="1828800"/>
            <a:ext cx="228600" cy="0"/>
          </a:xfrm>
          <a:prstGeom prst="line">
            <a:avLst/>
          </a:prstGeom>
          <a:noFill/>
          <a:ln w="22225">
            <a:solidFill>
              <a:schemeClr val="tx2"/>
            </a:solidFill>
            <a:prstDash val="solid"/>
            <a:tailEnd type="triangle"/>
          </a:ln>
        </p:spPr>
      </p:sp>
      <p:sp>
        <p:nvSpPr>
          <p:cNvPr id="14" name="Kotak"/>
          <p:cNvSpPr/>
          <p:nvPr/>
        </p:nvSpPr>
        <p:spPr>
          <a:xfrm>
            <a:off x="5532120" y="1417320"/>
            <a:ext cx="1463040" cy="822960"/>
          </a:xfrm>
          <a:prstGeom prst="roundRect">
            <a:avLst>
              <a:gd name="adj" fmla="val 8889"/>
            </a:avLst>
          </a:prstGeom>
          <a:solidFill>
            <a:schemeClr val="accent3"/>
          </a:solidFill>
          <a:ln w="12700">
            <a:solidFill>
              <a:schemeClr val="accent3"/>
            </a:solidFill>
            <a:prstDash val="solid"/>
          </a:ln>
        </p:spPr>
      </p:sp>
      <p:sp>
        <p:nvSpPr>
          <p:cNvPr id="15" name="Text 12"/>
          <p:cNvSpPr txBox="1"/>
          <p:nvPr/>
        </p:nvSpPr>
        <p:spPr>
          <a:xfrm>
            <a:off x="5532120" y="1417320"/>
            <a:ext cx="1463040" cy="822960"/>
          </a:xfrm>
          <a:prstGeom prst="rect">
            <a:avLst/>
          </a:prstGeom>
          <a:noFill/>
          <a:ln/>
        </p:spPr>
        <p:txBody>
          <a:bodyPr wrap="square" lIns="508" tIns="508" rIns="508" bIns="508" rtlCol="0" anchor="ctr"/>
          <a:lstStyle/>
          <a:p>
            <a:pPr algn="ctr" indent="0" marL="0">
              <a:buNone/>
            </a:pPr>
            <a:r>
              <a:rPr lang="en-US" sz="1300" b="1" dirty="0">
                <a:solidFill>
                  <a:schemeClr val="tx1"/>
                </a:solidFill>
              </a:rPr>
              <a:t>Stage</a:t>
            </a:r>
            <a:endParaRPr lang="en-US" sz="1300" dirty="0"/>
          </a:p>
          <a:p>
            <a:pPr algn="ctr" indent="0" marL="0">
              <a:buNone/>
            </a:pPr>
            <a:r>
              <a:rPr lang="en-US" sz="1300" b="1" dirty="0">
                <a:solidFill>
                  <a:schemeClr val="tx1"/>
                </a:solidFill>
              </a:rPr>
              <a:t>(batas shuffle)</a:t>
            </a:r>
            <a:endParaRPr lang="en-US" sz="1300" dirty="0"/>
          </a:p>
        </p:txBody>
      </p:sp>
      <p:sp>
        <p:nvSpPr>
          <p:cNvPr id="16" name="Shape 13"/>
          <p:cNvSpPr/>
          <p:nvPr/>
        </p:nvSpPr>
        <p:spPr>
          <a:xfrm>
            <a:off x="6995160" y="1828800"/>
            <a:ext cx="228600" cy="0"/>
          </a:xfrm>
          <a:prstGeom prst="line">
            <a:avLst/>
          </a:prstGeom>
          <a:noFill/>
          <a:ln w="22225">
            <a:solidFill>
              <a:schemeClr val="tx2"/>
            </a:solidFill>
            <a:prstDash val="solid"/>
            <a:tailEnd type="triangle"/>
          </a:ln>
        </p:spPr>
      </p:sp>
      <p:sp>
        <p:nvSpPr>
          <p:cNvPr id="17" name="Kotak"/>
          <p:cNvSpPr/>
          <p:nvPr/>
        </p:nvSpPr>
        <p:spPr>
          <a:xfrm>
            <a:off x="7223760" y="1417320"/>
            <a:ext cx="1463040" cy="822960"/>
          </a:xfrm>
          <a:prstGeom prst="roundRect">
            <a:avLst>
              <a:gd name="adj" fmla="val 8889"/>
            </a:avLst>
          </a:prstGeom>
          <a:solidFill>
            <a:schemeClr val="accent1"/>
          </a:solidFill>
          <a:ln w="12700">
            <a:solidFill>
              <a:schemeClr val="accent1"/>
            </a:solidFill>
            <a:prstDash val="solid"/>
          </a:ln>
        </p:spPr>
      </p:sp>
      <p:sp>
        <p:nvSpPr>
          <p:cNvPr id="18" name="Text 15"/>
          <p:cNvSpPr txBox="1"/>
          <p:nvPr/>
        </p:nvSpPr>
        <p:spPr>
          <a:xfrm>
            <a:off x="7223760" y="1417320"/>
            <a:ext cx="1463040" cy="822960"/>
          </a:xfrm>
          <a:prstGeom prst="rect">
            <a:avLst/>
          </a:prstGeom>
          <a:noFill/>
          <a:ln/>
        </p:spPr>
        <p:txBody>
          <a:bodyPr wrap="square" lIns="508" tIns="508" rIns="508" bIns="508" rtlCol="0" anchor="ctr"/>
          <a:lstStyle/>
          <a:p>
            <a:pPr algn="ctr" indent="0" marL="0">
              <a:buNone/>
            </a:pPr>
            <a:r>
              <a:rPr lang="en-US" sz="1300" b="1" dirty="0">
                <a:solidFill>
                  <a:schemeClr val="bg1"/>
                </a:solidFill>
              </a:rPr>
              <a:t>Task</a:t>
            </a:r>
            <a:endParaRPr lang="en-US" sz="1300" dirty="0"/>
          </a:p>
          <a:p>
            <a:pPr algn="ctr" indent="0" marL="0">
              <a:buNone/>
            </a:pPr>
            <a:r>
              <a:rPr lang="en-US" sz="1300" b="1" dirty="0">
                <a:solidFill>
                  <a:schemeClr val="bg1"/>
                </a:solidFill>
              </a:rPr>
              <a:t>per partisi</a:t>
            </a:r>
            <a:endParaRPr lang="en-US" sz="1300" dirty="0"/>
          </a:p>
        </p:txBody>
      </p:sp>
      <p:sp>
        <p:nvSpPr>
          <p:cNvPr id="19" name="Text 16"/>
          <p:cNvSpPr txBox="1"/>
          <p:nvPr/>
        </p:nvSpPr>
        <p:spPr>
          <a:xfrm>
            <a:off x="457200" y="2331720"/>
            <a:ext cx="8229600" cy="274320"/>
          </a:xfrm>
          <a:prstGeom prst="rect">
            <a:avLst/>
          </a:prstGeom>
          <a:noFill/>
          <a:ln/>
        </p:spPr>
        <p:txBody>
          <a:bodyPr wrap="square" lIns="0" tIns="0" rIns="0" bIns="0" rtlCol="0" anchor="ctr"/>
          <a:lstStyle/>
          <a:p>
            <a:pPr indent="0" marL="0">
              <a:buNone/>
            </a:pPr>
            <a:r>
              <a:rPr lang="en-US" sz="1200" i="1" dirty="0">
                <a:solidFill>
                  <a:schemeClr val="tx2"/>
                </a:solidFill>
              </a:rPr>
              <a:t>Action dipanggil → rencana dieksekusi</a:t>
            </a:r>
            <a:endParaRPr lang="en-US" sz="1200" dirty="0"/>
          </a:p>
        </p:txBody>
      </p:sp>
      <p:sp>
        <p:nvSpPr>
          <p:cNvPr id="20" name="Kartu"/>
          <p:cNvSpPr/>
          <p:nvPr/>
        </p:nvSpPr>
        <p:spPr>
          <a:xfrm>
            <a:off x="457200" y="2743200"/>
            <a:ext cx="4023360" cy="868680"/>
          </a:xfrm>
          <a:prstGeom prst="roundRect">
            <a:avLst>
              <a:gd name="adj" fmla="val 105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40080" y="2743200"/>
            <a:ext cx="3657600" cy="868680"/>
          </a:xfrm>
          <a:prstGeom prst="rect">
            <a:avLst/>
          </a:prstGeom>
          <a:noFill/>
          <a:ln/>
        </p:spPr>
        <p:txBody>
          <a:bodyPr wrap="square" lIns="0" tIns="0" rIns="0" bIns="0" rtlCol="0" anchor="ctr"/>
          <a:lstStyle/>
          <a:p>
            <a:pPr indent="0" marL="0">
              <a:buNone/>
            </a:pPr>
            <a:r>
              <a:rPr lang="en-US" sz="1500" b="1" dirty="0">
                <a:solidFill>
                  <a:schemeClr val="accent1"/>
                </a:solidFill>
              </a:rPr>
              <a:t>Pipelining</a:t>
            </a:r>
            <a:endParaRPr lang="en-US" sz="1500" dirty="0"/>
          </a:p>
          <a:p>
            <a:pPr indent="0" marL="0">
              <a:buNone/>
            </a:pPr>
            <a:r>
              <a:rPr lang="en-US" sz="1200" dirty="0">
                <a:solidFill>
                  <a:schemeClr val="tx1"/>
                </a:solidFill>
              </a:rPr>
              <a:t>Narrow transformation (filter → map) digabung dalam satu stage, satu kali lewat data.</a:t>
            </a:r>
            <a:endParaRPr lang="en-US" sz="1500" dirty="0"/>
          </a:p>
        </p:txBody>
      </p:sp>
      <p:sp>
        <p:nvSpPr>
          <p:cNvPr id="22" name="Kartu"/>
          <p:cNvSpPr/>
          <p:nvPr/>
        </p:nvSpPr>
        <p:spPr>
          <a:xfrm>
            <a:off x="4663440" y="2743200"/>
            <a:ext cx="4023360" cy="868680"/>
          </a:xfrm>
          <a:prstGeom prst="roundRect">
            <a:avLst>
              <a:gd name="adj" fmla="val 105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Text 20"/>
          <p:cNvSpPr txBox="1"/>
          <p:nvPr/>
        </p:nvSpPr>
        <p:spPr>
          <a:xfrm>
            <a:off x="4846320" y="2743200"/>
            <a:ext cx="3657600" cy="868680"/>
          </a:xfrm>
          <a:prstGeom prst="rect">
            <a:avLst/>
          </a:prstGeom>
          <a:noFill/>
          <a:ln/>
        </p:spPr>
        <p:txBody>
          <a:bodyPr wrap="square" lIns="0" tIns="0" rIns="0" bIns="0" rtlCol="0" anchor="ctr"/>
          <a:lstStyle/>
          <a:p>
            <a:pPr indent="0" marL="0">
              <a:buNone/>
            </a:pPr>
            <a:r>
              <a:rPr lang="en-US" sz="1500" b="1" dirty="0">
                <a:solidFill>
                  <a:schemeClr val="accent1"/>
                </a:solidFill>
              </a:rPr>
              <a:t>Pruning</a:t>
            </a:r>
            <a:endParaRPr lang="en-US" sz="1500" dirty="0"/>
          </a:p>
          <a:p>
            <a:pPr indent="0" marL="0">
              <a:buNone/>
            </a:pPr>
            <a:r>
              <a:rPr lang="en-US" sz="1200" dirty="0">
                <a:solidFill>
                  <a:schemeClr val="tx1"/>
                </a:solidFill>
              </a:rPr>
              <a:t>Hanya kolom/partisi yang dibutuhkan yang dibaca; filter didorong sedekat mungkin ke sumber.</a:t>
            </a:r>
            <a:endParaRPr lang="en-US" sz="1500" dirty="0"/>
          </a:p>
        </p:txBody>
      </p:sp>
      <p:sp>
        <p:nvSpPr>
          <p:cNvPr id="24" name="Kartu"/>
          <p:cNvSpPr/>
          <p:nvPr/>
        </p:nvSpPr>
        <p:spPr>
          <a:xfrm>
            <a:off x="457200" y="3703320"/>
            <a:ext cx="4023360" cy="868680"/>
          </a:xfrm>
          <a:prstGeom prst="roundRect">
            <a:avLst>
              <a:gd name="adj" fmla="val 105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640080" y="3703320"/>
            <a:ext cx="3657600" cy="868680"/>
          </a:xfrm>
          <a:prstGeom prst="rect">
            <a:avLst/>
          </a:prstGeom>
          <a:noFill/>
          <a:ln/>
        </p:spPr>
        <p:txBody>
          <a:bodyPr wrap="square" lIns="0" tIns="0" rIns="0" bIns="0" rtlCol="0" anchor="ctr"/>
          <a:lstStyle/>
          <a:p>
            <a:pPr indent="0" marL="0">
              <a:buNone/>
            </a:pPr>
            <a:r>
              <a:rPr lang="en-US" sz="1500" b="1" dirty="0">
                <a:solidFill>
                  <a:schemeClr val="accent1"/>
                </a:solidFill>
              </a:rPr>
              <a:t>Hindari kerja sia-sia</a:t>
            </a:r>
            <a:endParaRPr lang="en-US" sz="1500" dirty="0"/>
          </a:p>
          <a:p>
            <a:pPr indent="0" marL="0">
              <a:buNone/>
            </a:pPr>
            <a:r>
              <a:rPr lang="en-US" sz="1200" dirty="0">
                <a:solidFill>
                  <a:schemeClr val="tx1"/>
                </a:solidFill>
              </a:rPr>
              <a:t>Tanpa action, tidak ada komputasi. take(5) tidak perlu memproses seluruh data.</a:t>
            </a:r>
            <a:endParaRPr lang="en-US" sz="1500" dirty="0"/>
          </a:p>
        </p:txBody>
      </p:sp>
      <p:sp>
        <p:nvSpPr>
          <p:cNvPr id="26" name="Kartu"/>
          <p:cNvSpPr/>
          <p:nvPr/>
        </p:nvSpPr>
        <p:spPr>
          <a:xfrm>
            <a:off x="4663440" y="3703320"/>
            <a:ext cx="4023360" cy="868680"/>
          </a:xfrm>
          <a:prstGeom prst="roundRect">
            <a:avLst>
              <a:gd name="adj" fmla="val 105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4846320" y="3703320"/>
            <a:ext cx="3657600" cy="868680"/>
          </a:xfrm>
          <a:prstGeom prst="rect">
            <a:avLst/>
          </a:prstGeom>
          <a:noFill/>
          <a:ln/>
        </p:spPr>
        <p:txBody>
          <a:bodyPr wrap="square" lIns="0" tIns="0" rIns="0" bIns="0" rtlCol="0" anchor="ctr"/>
          <a:lstStyle/>
          <a:p>
            <a:pPr indent="0" marL="0">
              <a:buNone/>
            </a:pPr>
            <a:r>
              <a:rPr lang="en-US" sz="1500" b="1" dirty="0">
                <a:solidFill>
                  <a:schemeClr val="accent1"/>
                </a:solidFill>
              </a:rPr>
              <a:t>Pulih otomatis</a:t>
            </a:r>
            <a:endParaRPr lang="en-US" sz="1500" dirty="0"/>
          </a:p>
          <a:p>
            <a:pPr indent="0" marL="0">
              <a:buNone/>
            </a:pPr>
            <a:r>
              <a:rPr lang="en-US" sz="1200" dirty="0">
                <a:solidFill>
                  <a:schemeClr val="tx1"/>
                </a:solidFill>
              </a:rPr>
              <a:t>Lineage di DAG dipakai menghitung ulang hanya partisi yang hilang.</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DataFrame &amp; Catalyst Optimizer</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3 · STRUKTUR DATA</a:t>
            </a:r>
            <a:endParaRPr lang="en-US" sz="1200" dirty="0"/>
          </a:p>
        </p:txBody>
      </p:sp>
      <p:sp>
        <p:nvSpPr>
          <p:cNvPr id="5" name="Kartu"/>
          <p:cNvSpPr/>
          <p:nvPr/>
        </p:nvSpPr>
        <p:spPr>
          <a:xfrm>
            <a:off x="457200" y="1371600"/>
            <a:ext cx="1920240" cy="201168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594360" y="1508760"/>
            <a:ext cx="1645920" cy="457200"/>
          </a:xfrm>
          <a:prstGeom prst="roundRect">
            <a:avLst>
              <a:gd name="adj" fmla="val 16000"/>
            </a:avLst>
          </a:prstGeom>
          <a:solidFill>
            <a:schemeClr val="accent4"/>
          </a:solidFill>
          <a:ln w="12700">
            <a:solidFill>
              <a:schemeClr val="accent4"/>
            </a:solidFill>
            <a:prstDash val="solid"/>
          </a:ln>
        </p:spPr>
      </p:sp>
      <p:sp>
        <p:nvSpPr>
          <p:cNvPr id="7" name="Text 4"/>
          <p:cNvSpPr txBox="1"/>
          <p:nvPr/>
        </p:nvSpPr>
        <p:spPr>
          <a:xfrm>
            <a:off x="594360" y="1508760"/>
            <a:ext cx="1645920" cy="457200"/>
          </a:xfrm>
          <a:prstGeom prst="rect">
            <a:avLst/>
          </a:prstGeom>
          <a:noFill/>
          <a:ln/>
        </p:spPr>
        <p:txBody>
          <a:bodyPr wrap="square" lIns="0" tIns="0" rIns="0" bIns="0" rtlCol="0" anchor="ctr"/>
          <a:lstStyle/>
          <a:p>
            <a:pPr algn="ctr" indent="0" marL="0">
              <a:buNone/>
            </a:pPr>
            <a:r>
              <a:rPr lang="en-US" sz="1200" b="1" dirty="0">
                <a:solidFill>
                  <a:schemeClr val="bg1"/>
                </a:solidFill>
              </a:rPr>
              <a:t>1 Analysis</a:t>
            </a:r>
            <a:endParaRPr lang="en-US" sz="1200" dirty="0"/>
          </a:p>
        </p:txBody>
      </p:sp>
      <p:sp>
        <p:nvSpPr>
          <p:cNvPr id="8" name="Text 5"/>
          <p:cNvSpPr txBox="1"/>
          <p:nvPr/>
        </p:nvSpPr>
        <p:spPr>
          <a:xfrm>
            <a:off x="594360" y="2103120"/>
            <a:ext cx="1645920" cy="1188720"/>
          </a:xfrm>
          <a:prstGeom prst="rect">
            <a:avLst/>
          </a:prstGeom>
          <a:noFill/>
          <a:ln/>
        </p:spPr>
        <p:txBody>
          <a:bodyPr wrap="square" lIns="0" tIns="0" rIns="0" bIns="0" rtlCol="0" anchor="t"/>
          <a:lstStyle/>
          <a:p>
            <a:pPr indent="0" marL="0">
              <a:buNone/>
            </a:pPr>
            <a:r>
              <a:rPr lang="en-US" sz="1400" dirty="0">
                <a:solidFill>
                  <a:schemeClr val="tx1"/>
                </a:solidFill>
              </a:rPr>
              <a:t>Resolusi kolom &amp; tipe memakai katalog/skema</a:t>
            </a:r>
            <a:endParaRPr lang="en-US" sz="1400" dirty="0"/>
          </a:p>
        </p:txBody>
      </p:sp>
      <p:sp>
        <p:nvSpPr>
          <p:cNvPr id="9" name="Shape 6"/>
          <p:cNvSpPr/>
          <p:nvPr/>
        </p:nvSpPr>
        <p:spPr>
          <a:xfrm>
            <a:off x="2377440" y="2377440"/>
            <a:ext cx="164592" cy="0"/>
          </a:xfrm>
          <a:prstGeom prst="line">
            <a:avLst/>
          </a:prstGeom>
          <a:noFill/>
          <a:ln w="22225">
            <a:solidFill>
              <a:schemeClr val="tx2"/>
            </a:solidFill>
            <a:prstDash val="solid"/>
            <a:tailEnd type="triangle"/>
          </a:ln>
        </p:spPr>
      </p:sp>
      <p:sp>
        <p:nvSpPr>
          <p:cNvPr id="10" name="Kartu"/>
          <p:cNvSpPr/>
          <p:nvPr/>
        </p:nvSpPr>
        <p:spPr>
          <a:xfrm>
            <a:off x="2542032" y="1371600"/>
            <a:ext cx="1920240" cy="201168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2679192" y="1508760"/>
            <a:ext cx="1645920" cy="457200"/>
          </a:xfrm>
          <a:prstGeom prst="roundRect">
            <a:avLst>
              <a:gd name="adj" fmla="val 16000"/>
            </a:avLst>
          </a:prstGeom>
          <a:solidFill>
            <a:schemeClr val="accent2"/>
          </a:solidFill>
          <a:ln w="12700">
            <a:solidFill>
              <a:schemeClr val="accent2"/>
            </a:solidFill>
            <a:prstDash val="solid"/>
          </a:ln>
        </p:spPr>
      </p:sp>
      <p:sp>
        <p:nvSpPr>
          <p:cNvPr id="12" name="Text 9"/>
          <p:cNvSpPr txBox="1"/>
          <p:nvPr/>
        </p:nvSpPr>
        <p:spPr>
          <a:xfrm>
            <a:off x="2679192" y="1508760"/>
            <a:ext cx="1645920" cy="457200"/>
          </a:xfrm>
          <a:prstGeom prst="rect">
            <a:avLst/>
          </a:prstGeom>
          <a:noFill/>
          <a:ln/>
        </p:spPr>
        <p:txBody>
          <a:bodyPr wrap="square" lIns="0" tIns="0" rIns="0" bIns="0" rtlCol="0" anchor="ctr"/>
          <a:lstStyle/>
          <a:p>
            <a:pPr algn="ctr" indent="0" marL="0">
              <a:buNone/>
            </a:pPr>
            <a:r>
              <a:rPr lang="en-US" sz="1200" b="1" dirty="0">
                <a:solidFill>
                  <a:schemeClr val="bg1"/>
                </a:solidFill>
              </a:rPr>
              <a:t>2 Logical Optimization</a:t>
            </a:r>
            <a:endParaRPr lang="en-US" sz="1200" dirty="0"/>
          </a:p>
        </p:txBody>
      </p:sp>
      <p:sp>
        <p:nvSpPr>
          <p:cNvPr id="13" name="Text 10"/>
          <p:cNvSpPr txBox="1"/>
          <p:nvPr/>
        </p:nvSpPr>
        <p:spPr>
          <a:xfrm>
            <a:off x="2679192" y="2103120"/>
            <a:ext cx="1645920" cy="1188720"/>
          </a:xfrm>
          <a:prstGeom prst="rect">
            <a:avLst/>
          </a:prstGeom>
          <a:noFill/>
          <a:ln/>
        </p:spPr>
        <p:txBody>
          <a:bodyPr wrap="square" lIns="0" tIns="0" rIns="0" bIns="0" rtlCol="0" anchor="t"/>
          <a:lstStyle/>
          <a:p>
            <a:pPr indent="0" marL="0">
              <a:buNone/>
            </a:pPr>
            <a:r>
              <a:rPr lang="en-US" sz="1400" dirty="0">
                <a:solidFill>
                  <a:schemeClr val="tx1"/>
                </a:solidFill>
              </a:rPr>
              <a:t>Predicate pushdown, column pruning, constant folding</a:t>
            </a:r>
            <a:endParaRPr lang="en-US" sz="1400" dirty="0"/>
          </a:p>
        </p:txBody>
      </p:sp>
      <p:sp>
        <p:nvSpPr>
          <p:cNvPr id="14" name="Shape 11"/>
          <p:cNvSpPr/>
          <p:nvPr/>
        </p:nvSpPr>
        <p:spPr>
          <a:xfrm>
            <a:off x="4462272" y="2377440"/>
            <a:ext cx="164592" cy="0"/>
          </a:xfrm>
          <a:prstGeom prst="line">
            <a:avLst/>
          </a:prstGeom>
          <a:noFill/>
          <a:ln w="22225">
            <a:solidFill>
              <a:schemeClr val="tx2"/>
            </a:solidFill>
            <a:prstDash val="solid"/>
            <a:tailEnd type="triangle"/>
          </a:ln>
        </p:spPr>
      </p:sp>
      <p:sp>
        <p:nvSpPr>
          <p:cNvPr id="15" name="Kartu"/>
          <p:cNvSpPr/>
          <p:nvPr/>
        </p:nvSpPr>
        <p:spPr>
          <a:xfrm>
            <a:off x="4626864" y="1371600"/>
            <a:ext cx="1920240" cy="201168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4764024" y="1508760"/>
            <a:ext cx="1645920" cy="457200"/>
          </a:xfrm>
          <a:prstGeom prst="roundRect">
            <a:avLst>
              <a:gd name="adj" fmla="val 16000"/>
            </a:avLst>
          </a:prstGeom>
          <a:solidFill>
            <a:schemeClr val="accent5"/>
          </a:solidFill>
          <a:ln w="12700">
            <a:solidFill>
              <a:schemeClr val="accent5"/>
            </a:solidFill>
            <a:prstDash val="solid"/>
          </a:ln>
        </p:spPr>
      </p:sp>
      <p:sp>
        <p:nvSpPr>
          <p:cNvPr id="17" name="Text 14"/>
          <p:cNvSpPr txBox="1"/>
          <p:nvPr/>
        </p:nvSpPr>
        <p:spPr>
          <a:xfrm>
            <a:off x="4764024" y="1508760"/>
            <a:ext cx="1645920" cy="457200"/>
          </a:xfrm>
          <a:prstGeom prst="rect">
            <a:avLst/>
          </a:prstGeom>
          <a:noFill/>
          <a:ln/>
        </p:spPr>
        <p:txBody>
          <a:bodyPr wrap="square" lIns="0" tIns="0" rIns="0" bIns="0" rtlCol="0" anchor="ctr"/>
          <a:lstStyle/>
          <a:p>
            <a:pPr algn="ctr" indent="0" marL="0">
              <a:buNone/>
            </a:pPr>
            <a:r>
              <a:rPr lang="en-US" sz="1200" b="1" dirty="0">
                <a:solidFill>
                  <a:schemeClr val="bg1"/>
                </a:solidFill>
              </a:rPr>
              <a:t>3 Physical Planning</a:t>
            </a:r>
            <a:endParaRPr lang="en-US" sz="1200" dirty="0"/>
          </a:p>
        </p:txBody>
      </p:sp>
      <p:sp>
        <p:nvSpPr>
          <p:cNvPr id="18" name="Text 15"/>
          <p:cNvSpPr txBox="1"/>
          <p:nvPr/>
        </p:nvSpPr>
        <p:spPr>
          <a:xfrm>
            <a:off x="4764024" y="2103120"/>
            <a:ext cx="1645920" cy="1188720"/>
          </a:xfrm>
          <a:prstGeom prst="rect">
            <a:avLst/>
          </a:prstGeom>
          <a:noFill/>
          <a:ln/>
        </p:spPr>
        <p:txBody>
          <a:bodyPr wrap="square" lIns="0" tIns="0" rIns="0" bIns="0" rtlCol="0" anchor="t"/>
          <a:lstStyle/>
          <a:p>
            <a:pPr indent="0" marL="0">
              <a:buNone/>
            </a:pPr>
            <a:r>
              <a:rPr lang="en-US" sz="1400" dirty="0">
                <a:solidFill>
                  <a:schemeClr val="tx1"/>
                </a:solidFill>
              </a:rPr>
              <a:t>Pilih strategi terbaik berdasar biaya (mis. broadcast join)</a:t>
            </a:r>
            <a:endParaRPr lang="en-US" sz="1400" dirty="0"/>
          </a:p>
        </p:txBody>
      </p:sp>
      <p:sp>
        <p:nvSpPr>
          <p:cNvPr id="19" name="Shape 16"/>
          <p:cNvSpPr/>
          <p:nvPr/>
        </p:nvSpPr>
        <p:spPr>
          <a:xfrm>
            <a:off x="6547104" y="2377440"/>
            <a:ext cx="164592" cy="0"/>
          </a:xfrm>
          <a:prstGeom prst="line">
            <a:avLst/>
          </a:prstGeom>
          <a:noFill/>
          <a:ln w="22225">
            <a:solidFill>
              <a:schemeClr val="tx2"/>
            </a:solidFill>
            <a:prstDash val="solid"/>
            <a:tailEnd type="triangle"/>
          </a:ln>
        </p:spPr>
      </p:sp>
      <p:sp>
        <p:nvSpPr>
          <p:cNvPr id="20" name="Kartu"/>
          <p:cNvSpPr/>
          <p:nvPr/>
        </p:nvSpPr>
        <p:spPr>
          <a:xfrm>
            <a:off x="6711696" y="1371600"/>
            <a:ext cx="1920240" cy="2011680"/>
          </a:xfrm>
          <a:prstGeom prst="roundRect">
            <a:avLst>
              <a:gd name="adj" fmla="val 47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6848856" y="1508760"/>
            <a:ext cx="1645920" cy="457200"/>
          </a:xfrm>
          <a:prstGeom prst="roundRect">
            <a:avLst>
              <a:gd name="adj" fmla="val 16000"/>
            </a:avLst>
          </a:prstGeom>
          <a:solidFill>
            <a:schemeClr val="accent1"/>
          </a:solidFill>
          <a:ln w="12700">
            <a:solidFill>
              <a:schemeClr val="accent1"/>
            </a:solidFill>
            <a:prstDash val="solid"/>
          </a:ln>
        </p:spPr>
      </p:sp>
      <p:sp>
        <p:nvSpPr>
          <p:cNvPr id="22" name="Text 19"/>
          <p:cNvSpPr txBox="1"/>
          <p:nvPr/>
        </p:nvSpPr>
        <p:spPr>
          <a:xfrm>
            <a:off x="6848856" y="1508760"/>
            <a:ext cx="1645920" cy="457200"/>
          </a:xfrm>
          <a:prstGeom prst="rect">
            <a:avLst/>
          </a:prstGeom>
          <a:noFill/>
          <a:ln/>
        </p:spPr>
        <p:txBody>
          <a:bodyPr wrap="square" lIns="0" tIns="0" rIns="0" bIns="0" rtlCol="0" anchor="ctr"/>
          <a:lstStyle/>
          <a:p>
            <a:pPr algn="ctr" indent="0" marL="0">
              <a:buNone/>
            </a:pPr>
            <a:r>
              <a:rPr lang="en-US" sz="1200" b="1" dirty="0">
                <a:solidFill>
                  <a:schemeClr val="bg1"/>
                </a:solidFill>
              </a:rPr>
              <a:t>4 Code Generation</a:t>
            </a:r>
            <a:endParaRPr lang="en-US" sz="1200" dirty="0"/>
          </a:p>
        </p:txBody>
      </p:sp>
      <p:sp>
        <p:nvSpPr>
          <p:cNvPr id="23" name="Text 20"/>
          <p:cNvSpPr txBox="1"/>
          <p:nvPr/>
        </p:nvSpPr>
        <p:spPr>
          <a:xfrm>
            <a:off x="6848856" y="2103120"/>
            <a:ext cx="1645920" cy="1188720"/>
          </a:xfrm>
          <a:prstGeom prst="rect">
            <a:avLst/>
          </a:prstGeom>
          <a:noFill/>
          <a:ln/>
        </p:spPr>
        <p:txBody>
          <a:bodyPr wrap="square" lIns="0" tIns="0" rIns="0" bIns="0" rtlCol="0" anchor="t"/>
          <a:lstStyle/>
          <a:p>
            <a:pPr indent="0" marL="0">
              <a:buNone/>
            </a:pPr>
            <a:r>
              <a:rPr lang="en-US" sz="1400" dirty="0">
                <a:solidFill>
                  <a:schemeClr val="tx1"/>
                </a:solidFill>
              </a:rPr>
              <a:t>Whole-stage codegen menjadi bytecode JVM efisien</a:t>
            </a:r>
            <a:endParaRPr lang="en-US" sz="1400" dirty="0"/>
          </a:p>
        </p:txBody>
      </p:sp>
      <p:sp>
        <p:nvSpPr>
          <p:cNvPr id="24" name="Kartu"/>
          <p:cNvSpPr/>
          <p:nvPr/>
        </p:nvSpPr>
        <p:spPr>
          <a:xfrm>
            <a:off x="457200" y="3611880"/>
            <a:ext cx="8229600" cy="1005840"/>
          </a:xfrm>
          <a:prstGeom prst="roundRect">
            <a:avLst>
              <a:gd name="adj" fmla="val 9091"/>
            </a:avLst>
          </a:prstGeom>
          <a:solidFill>
            <a:schemeClr val="tx1"/>
          </a:solidFill>
          <a:ln w="12700">
            <a:solidFill>
              <a:schemeClr val="tx1"/>
            </a:solidFill>
            <a:prstDash val="solid"/>
          </a:ln>
        </p:spPr>
      </p:sp>
      <p:sp>
        <p:nvSpPr>
          <p:cNvPr id="25" name="Text 22"/>
          <p:cNvSpPr txBox="1"/>
          <p:nvPr/>
        </p:nvSpPr>
        <p:spPr>
          <a:xfrm>
            <a:off x="685800" y="3611880"/>
            <a:ext cx="7772400" cy="1005840"/>
          </a:xfrm>
          <a:prstGeom prst="rect">
            <a:avLst/>
          </a:prstGeom>
          <a:noFill/>
          <a:ln/>
        </p:spPr>
        <p:txBody>
          <a:bodyPr wrap="square" lIns="0" tIns="0" rIns="0" bIns="0" rtlCol="0" anchor="ctr"/>
          <a:lstStyle/>
          <a:p>
            <a:pPr indent="0" marL="0">
              <a:buNone/>
            </a:pPr>
            <a:r>
              <a:rPr lang="en-US" sz="1400" b="1" dirty="0">
                <a:solidFill>
                  <a:srgbClr val="F2B134"/>
                </a:solidFill>
              </a:rPr>
              <a:t>Mengapa jauh lebih cepat? </a:t>
            </a:r>
            <a:pPr indent="0" marL="0">
              <a:buNone/>
            </a:pPr>
            <a:r>
              <a:rPr lang="en-US" sz="1400" dirty="0">
                <a:solidFill>
                  <a:schemeClr val="bg1"/>
                </a:solidFill>
              </a:rPr>
              <a:t>Skema memungkinkan Catalyst menulis ulang query, Tungsten menyimpan data dalam format biner kolumnar di luar heap JVM (tanpa overhead objek &amp; GC), dan AQE menyesuaikan rencana saat runtime.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Kapan RDD Masih Dibutuhkan?</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3 · STRUKTUR DATA</a:t>
            </a:r>
            <a:endParaRPr lang="en-US" sz="1200" dirty="0"/>
          </a:p>
        </p:txBody>
      </p:sp>
      <p:sp>
        <p:nvSpPr>
          <p:cNvPr id="5" name="Kartu"/>
          <p:cNvSpPr/>
          <p:nvPr/>
        </p:nvSpPr>
        <p:spPr>
          <a:xfrm>
            <a:off x="457200" y="1371600"/>
            <a:ext cx="4023360" cy="32004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Kartu"/>
          <p:cNvSpPr/>
          <p:nvPr/>
        </p:nvSpPr>
        <p:spPr>
          <a:xfrm>
            <a:off x="4663440" y="1371600"/>
            <a:ext cx="4023360" cy="32004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40080" y="1463040"/>
            <a:ext cx="3657600" cy="320040"/>
          </a:xfrm>
          <a:prstGeom prst="rect">
            <a:avLst/>
          </a:prstGeom>
          <a:noFill/>
          <a:ln/>
        </p:spPr>
        <p:txBody>
          <a:bodyPr wrap="square" lIns="0" tIns="0" rIns="0" bIns="0" rtlCol="0" anchor="ctr"/>
          <a:lstStyle/>
          <a:p>
            <a:pPr indent="0" marL="0">
              <a:buNone/>
            </a:pPr>
            <a:r>
              <a:rPr lang="en-US" sz="1800" b="1" dirty="0">
                <a:solidFill>
                  <a:schemeClr val="accent2"/>
                </a:solidFill>
              </a:rPr>
              <a:t>DataFrame (default)</a:t>
            </a:r>
            <a:endParaRPr lang="en-US" sz="1800" dirty="0"/>
          </a:p>
        </p:txBody>
      </p:sp>
      <p:sp>
        <p:nvSpPr>
          <p:cNvPr id="8" name="Text 5"/>
          <p:cNvSpPr txBox="1"/>
          <p:nvPr/>
        </p:nvSpPr>
        <p:spPr>
          <a:xfrm>
            <a:off x="640080" y="1920240"/>
            <a:ext cx="3657600" cy="2560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Data terstruktur / semi-terstruktur (CSV, JSON, Parquet, tabel)</a:t>
            </a:r>
            <a:endParaRPr lang="en-US" sz="1400" dirty="0"/>
          </a:p>
          <a:p>
            <a:pPr marL="342900" indent="-342900">
              <a:spcAft>
                <a:spcPts val="500"/>
              </a:spcAft>
              <a:buSzPct val="100000"/>
              <a:buChar char="•"/>
            </a:pPr>
            <a:r>
              <a:rPr lang="en-US" sz="1400" dirty="0">
                <a:solidFill>
                  <a:schemeClr val="tx1"/>
                </a:solidFill>
              </a:rPr>
              <a:t>Dioptimalkan Catalyst + Tungsten</a:t>
            </a:r>
            <a:endParaRPr lang="en-US" sz="1400" dirty="0"/>
          </a:p>
          <a:p>
            <a:pPr marL="342900" indent="-342900">
              <a:spcAft>
                <a:spcPts val="500"/>
              </a:spcAft>
              <a:buSzPct val="100000"/>
              <a:buChar char="•"/>
            </a:pPr>
            <a:r>
              <a:rPr lang="en-US" sz="1400" dirty="0">
                <a:solidFill>
                  <a:schemeClr val="tx1"/>
                </a:solidFill>
              </a:rPr>
              <a:t>API deklaratif, ringkas, setara SQL</a:t>
            </a:r>
            <a:endParaRPr lang="en-US" sz="1400" dirty="0"/>
          </a:p>
          <a:p>
            <a:pPr marL="342900" indent="-342900">
              <a:spcAft>
                <a:spcPts val="500"/>
              </a:spcAft>
              <a:buSzPct val="100000"/>
              <a:buChar char="•"/>
            </a:pPr>
            <a:r>
              <a:rPr lang="en-US" sz="1400" dirty="0">
                <a:solidFill>
                  <a:schemeClr val="tx1"/>
                </a:solidFill>
              </a:rPr>
              <a:t>Performa konsisten di Python, Scala, Java, R</a:t>
            </a:r>
            <a:endParaRPr lang="en-US" sz="1400" dirty="0"/>
          </a:p>
        </p:txBody>
      </p:sp>
      <p:sp>
        <p:nvSpPr>
          <p:cNvPr id="9" name="Text 6"/>
          <p:cNvSpPr txBox="1"/>
          <p:nvPr/>
        </p:nvSpPr>
        <p:spPr>
          <a:xfrm>
            <a:off x="4846320" y="1463040"/>
            <a:ext cx="3657600" cy="320040"/>
          </a:xfrm>
          <a:prstGeom prst="rect">
            <a:avLst/>
          </a:prstGeom>
          <a:noFill/>
          <a:ln/>
        </p:spPr>
        <p:txBody>
          <a:bodyPr wrap="square" lIns="0" tIns="0" rIns="0" bIns="0" rtlCol="0" anchor="ctr"/>
          <a:lstStyle/>
          <a:p>
            <a:pPr indent="0" marL="0">
              <a:buNone/>
            </a:pPr>
            <a:r>
              <a:rPr lang="en-US" sz="1800" b="1" dirty="0">
                <a:solidFill>
                  <a:schemeClr val="accent1"/>
                </a:solidFill>
              </a:rPr>
              <a:t>RDD (kasus khusus)</a:t>
            </a:r>
            <a:endParaRPr lang="en-US" sz="1800" dirty="0"/>
          </a:p>
        </p:txBody>
      </p:sp>
      <p:sp>
        <p:nvSpPr>
          <p:cNvPr id="10" name="Text 7"/>
          <p:cNvSpPr txBox="1"/>
          <p:nvPr/>
        </p:nvSpPr>
        <p:spPr>
          <a:xfrm>
            <a:off x="4846320" y="1920240"/>
            <a:ext cx="3657600" cy="2560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Data tanpa skema: teks mentah, biner, log bebas</a:t>
            </a:r>
            <a:endParaRPr lang="en-US" sz="1400" dirty="0"/>
          </a:p>
          <a:p>
            <a:pPr marL="342900" indent="-342900">
              <a:spcAft>
                <a:spcPts val="500"/>
              </a:spcAft>
              <a:buSzPct val="100000"/>
              <a:buChar char="•"/>
            </a:pPr>
            <a:r>
              <a:rPr lang="en-US" sz="1400" dirty="0">
                <a:solidFill>
                  <a:schemeClr val="tx1"/>
                </a:solidFill>
              </a:rPr>
              <a:t>Kontrol low-level: custom partitioner, penempatan partisi</a:t>
            </a:r>
            <a:endParaRPr lang="en-US" sz="1400" dirty="0"/>
          </a:p>
          <a:p>
            <a:pPr marL="342900" indent="-342900">
              <a:spcAft>
                <a:spcPts val="500"/>
              </a:spcAft>
              <a:buSzPct val="100000"/>
              <a:buChar char="•"/>
            </a:pPr>
            <a:r>
              <a:rPr lang="en-US" sz="1400" dirty="0">
                <a:solidFill>
                  <a:schemeClr val="tx1"/>
                </a:solidFill>
              </a:rPr>
              <a:t>Logika per-record kompleks di luar ekspresi SQL</a:t>
            </a:r>
            <a:endParaRPr lang="en-US" sz="1400" dirty="0"/>
          </a:p>
          <a:p>
            <a:pPr marL="342900" indent="-342900">
              <a:spcAft>
                <a:spcPts val="500"/>
              </a:spcAft>
              <a:buSzPct val="100000"/>
              <a:buChar char="•"/>
            </a:pPr>
            <a:r>
              <a:rPr lang="en-US" sz="1400" dirty="0">
                <a:solidFill>
                  <a:schemeClr val="tx1"/>
                </a:solidFill>
              </a:rPr>
              <a:t>Kode legacy / pustaka berbasis RDD</a:t>
            </a:r>
            <a:endParaRPr lang="en-US" sz="1400" dirty="0"/>
          </a:p>
          <a:p>
            <a:pPr marL="342900" indent="-342900">
              <a:spcAft>
                <a:spcPts val="500"/>
              </a:spcAft>
              <a:buSzPct val="100000"/>
              <a:buChar char="•"/>
            </a:pPr>
            <a:r>
              <a:rPr lang="en-US" sz="1400" dirty="0">
                <a:solidFill>
                  <a:schemeClr val="tx1"/>
                </a:solidFill>
              </a:rPr>
              <a:t>Harga: tanpa Catalyst, serialisasi lebih berat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Arsitektur Terdistribusi Spark</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4 · ARSITEKTUR</a:t>
            </a:r>
            <a:endParaRPr lang="en-US" sz="1200" dirty="0"/>
          </a:p>
        </p:txBody>
      </p:sp>
      <p:sp>
        <p:nvSpPr>
          <p:cNvPr id="5" name="Kartu"/>
          <p:cNvSpPr/>
          <p:nvPr/>
        </p:nvSpPr>
        <p:spPr>
          <a:xfrm>
            <a:off x="457200" y="1463040"/>
            <a:ext cx="1920240" cy="3108960"/>
          </a:xfrm>
          <a:prstGeom prst="roundRect">
            <a:avLst>
              <a:gd name="adj" fmla="val 4762"/>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457200" y="1554480"/>
            <a:ext cx="1920240" cy="365760"/>
          </a:xfrm>
          <a:prstGeom prst="rect">
            <a:avLst/>
          </a:prstGeom>
          <a:noFill/>
          <a:ln/>
        </p:spPr>
        <p:txBody>
          <a:bodyPr wrap="square" lIns="0" tIns="0" rIns="0" bIns="0" rtlCol="0" anchor="ctr"/>
          <a:lstStyle/>
          <a:p>
            <a:pPr algn="ctr" indent="0" marL="0">
              <a:buNone/>
            </a:pPr>
            <a:r>
              <a:rPr lang="en-US" sz="1600" b="1" dirty="0">
                <a:solidFill>
                  <a:schemeClr val="accent3"/>
                </a:solidFill>
              </a:rPr>
              <a:t>Driver Program</a:t>
            </a:r>
            <a:endParaRPr lang="en-US" sz="1600" dirty="0"/>
          </a:p>
        </p:txBody>
      </p:sp>
      <p:sp>
        <p:nvSpPr>
          <p:cNvPr id="7" name="Kotak"/>
          <p:cNvSpPr/>
          <p:nvPr/>
        </p:nvSpPr>
        <p:spPr>
          <a:xfrm>
            <a:off x="594360" y="2057400"/>
            <a:ext cx="1645920" cy="594360"/>
          </a:xfrm>
          <a:prstGeom prst="roundRect">
            <a:avLst>
              <a:gd name="adj" fmla="val 12308"/>
            </a:avLst>
          </a:prstGeom>
          <a:solidFill>
            <a:schemeClr val="accent4"/>
          </a:solidFill>
          <a:ln w="12700">
            <a:solidFill>
              <a:schemeClr val="accent4"/>
            </a:solidFill>
            <a:prstDash val="solid"/>
          </a:ln>
        </p:spPr>
      </p:sp>
      <p:sp>
        <p:nvSpPr>
          <p:cNvPr id="8" name="Text 5"/>
          <p:cNvSpPr txBox="1"/>
          <p:nvPr/>
        </p:nvSpPr>
        <p:spPr>
          <a:xfrm>
            <a:off x="594360" y="2057400"/>
            <a:ext cx="1645920" cy="594360"/>
          </a:xfrm>
          <a:prstGeom prst="rect">
            <a:avLst/>
          </a:prstGeom>
          <a:noFill/>
          <a:ln/>
        </p:spPr>
        <p:txBody>
          <a:bodyPr wrap="square" lIns="508" tIns="508" rIns="508" bIns="508" rtlCol="0" anchor="ctr"/>
          <a:lstStyle/>
          <a:p>
            <a:pPr algn="ctr" indent="0" marL="0">
              <a:buNone/>
            </a:pPr>
            <a:r>
              <a:rPr lang="en-US" sz="1300" b="1" dirty="0">
                <a:solidFill>
                  <a:schemeClr val="bg1"/>
                </a:solidFill>
              </a:rPr>
              <a:t>SparkSession</a:t>
            </a:r>
            <a:endParaRPr lang="en-US" sz="1300" dirty="0"/>
          </a:p>
        </p:txBody>
      </p:sp>
      <p:sp>
        <p:nvSpPr>
          <p:cNvPr id="9" name="Kotak"/>
          <p:cNvSpPr/>
          <p:nvPr/>
        </p:nvSpPr>
        <p:spPr>
          <a:xfrm>
            <a:off x="594360" y="2834640"/>
            <a:ext cx="1645920" cy="594360"/>
          </a:xfrm>
          <a:prstGeom prst="roundRect">
            <a:avLst>
              <a:gd name="adj" fmla="val 12308"/>
            </a:avLst>
          </a:prstGeom>
          <a:solidFill>
            <a:schemeClr val="accent4"/>
          </a:solidFill>
          <a:ln w="12700">
            <a:solidFill>
              <a:schemeClr val="accent4"/>
            </a:solidFill>
            <a:prstDash val="solid"/>
          </a:ln>
        </p:spPr>
      </p:sp>
      <p:sp>
        <p:nvSpPr>
          <p:cNvPr id="10" name="Text 7"/>
          <p:cNvSpPr txBox="1"/>
          <p:nvPr/>
        </p:nvSpPr>
        <p:spPr>
          <a:xfrm>
            <a:off x="594360" y="2834640"/>
            <a:ext cx="1645920" cy="594360"/>
          </a:xfrm>
          <a:prstGeom prst="rect">
            <a:avLst/>
          </a:prstGeom>
          <a:noFill/>
          <a:ln/>
        </p:spPr>
        <p:txBody>
          <a:bodyPr wrap="square" lIns="508" tIns="508" rIns="508" bIns="508" rtlCol="0" anchor="ctr"/>
          <a:lstStyle/>
          <a:p>
            <a:pPr algn="ctr" indent="0" marL="0">
              <a:buNone/>
            </a:pPr>
            <a:r>
              <a:rPr lang="en-US" sz="1300" b="1" dirty="0">
                <a:solidFill>
                  <a:schemeClr val="bg1"/>
                </a:solidFill>
              </a:rPr>
              <a:t>DAG Scheduler</a:t>
            </a:r>
            <a:endParaRPr lang="en-US" sz="1300" dirty="0"/>
          </a:p>
        </p:txBody>
      </p:sp>
      <p:sp>
        <p:nvSpPr>
          <p:cNvPr id="11" name="Kotak"/>
          <p:cNvSpPr/>
          <p:nvPr/>
        </p:nvSpPr>
        <p:spPr>
          <a:xfrm>
            <a:off x="594360" y="3611880"/>
            <a:ext cx="1645920" cy="594360"/>
          </a:xfrm>
          <a:prstGeom prst="roundRect">
            <a:avLst>
              <a:gd name="adj" fmla="val 12308"/>
            </a:avLst>
          </a:prstGeom>
          <a:solidFill>
            <a:schemeClr val="accent4"/>
          </a:solidFill>
          <a:ln w="12700">
            <a:solidFill>
              <a:schemeClr val="accent4"/>
            </a:solidFill>
            <a:prstDash val="solid"/>
          </a:ln>
        </p:spPr>
      </p:sp>
      <p:sp>
        <p:nvSpPr>
          <p:cNvPr id="12" name="Text 9"/>
          <p:cNvSpPr txBox="1"/>
          <p:nvPr/>
        </p:nvSpPr>
        <p:spPr>
          <a:xfrm>
            <a:off x="594360" y="3611880"/>
            <a:ext cx="1645920" cy="594360"/>
          </a:xfrm>
          <a:prstGeom prst="rect">
            <a:avLst/>
          </a:prstGeom>
          <a:noFill/>
          <a:ln/>
        </p:spPr>
        <p:txBody>
          <a:bodyPr wrap="square" lIns="508" tIns="508" rIns="508" bIns="508" rtlCol="0" anchor="ctr"/>
          <a:lstStyle/>
          <a:p>
            <a:pPr algn="ctr" indent="0" marL="0">
              <a:buNone/>
            </a:pPr>
            <a:r>
              <a:rPr lang="en-US" sz="1300" b="1" dirty="0">
                <a:solidFill>
                  <a:schemeClr val="bg1"/>
                </a:solidFill>
              </a:rPr>
              <a:t>Task Scheduler</a:t>
            </a:r>
            <a:endParaRPr lang="en-US" sz="1300" dirty="0"/>
          </a:p>
        </p:txBody>
      </p:sp>
      <p:sp>
        <p:nvSpPr>
          <p:cNvPr id="13" name="Kartu"/>
          <p:cNvSpPr/>
          <p:nvPr/>
        </p:nvSpPr>
        <p:spPr>
          <a:xfrm>
            <a:off x="3383280" y="1463040"/>
            <a:ext cx="1463040" cy="914400"/>
          </a:xfrm>
          <a:prstGeom prst="roundRect">
            <a:avLst>
              <a:gd name="adj" fmla="val 10000"/>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3383280" y="1463040"/>
            <a:ext cx="1463040" cy="914400"/>
          </a:xfrm>
          <a:prstGeom prst="rect">
            <a:avLst/>
          </a:prstGeom>
          <a:noFill/>
          <a:ln/>
        </p:spPr>
        <p:txBody>
          <a:bodyPr wrap="square" lIns="0" tIns="0" rIns="0" bIns="0" rtlCol="0" anchor="ctr"/>
          <a:lstStyle/>
          <a:p>
            <a:pPr algn="ctr" indent="0" marL="0">
              <a:buNone/>
            </a:pPr>
            <a:r>
              <a:rPr lang="en-US" sz="1500" b="1" dirty="0">
                <a:solidFill>
                  <a:schemeClr val="bg1"/>
                </a:solidFill>
              </a:rPr>
              <a:t>Cluster Manager</a:t>
            </a:r>
            <a:endParaRPr lang="en-US" sz="1500" dirty="0"/>
          </a:p>
          <a:p>
            <a:pPr algn="ctr" indent="0" marL="0">
              <a:buNone/>
            </a:pPr>
            <a:r>
              <a:rPr lang="en-US" sz="1100" dirty="0">
                <a:solidFill>
                  <a:schemeClr val="bg1"/>
                </a:solidFill>
              </a:rPr>
              <a:t>Standalone · YARN · K8s</a:t>
            </a:r>
            <a:endParaRPr lang="en-US" sz="1500" dirty="0"/>
          </a:p>
        </p:txBody>
      </p:sp>
      <p:sp>
        <p:nvSpPr>
          <p:cNvPr id="15" name="Kartu"/>
          <p:cNvSpPr/>
          <p:nvPr/>
        </p:nvSpPr>
        <p:spPr>
          <a:xfrm>
            <a:off x="5852160" y="1463040"/>
            <a:ext cx="2834640" cy="960120"/>
          </a:xfrm>
          <a:prstGeom prst="roundRect">
            <a:avLst>
              <a:gd name="adj" fmla="val 952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5961888" y="1499616"/>
            <a:ext cx="2926080" cy="274320"/>
          </a:xfrm>
          <a:prstGeom prst="rect">
            <a:avLst/>
          </a:prstGeom>
          <a:noFill/>
          <a:ln/>
        </p:spPr>
        <p:txBody>
          <a:bodyPr wrap="square" lIns="0" tIns="0" rIns="0" bIns="0" rtlCol="0" anchor="ctr"/>
          <a:lstStyle/>
          <a:p>
            <a:pPr indent="0" marL="0">
              <a:buNone/>
            </a:pPr>
            <a:r>
              <a:rPr lang="en-US" sz="1200" b="1" dirty="0">
                <a:solidFill>
                  <a:schemeClr val="tx2"/>
                </a:solidFill>
              </a:rPr>
              <a:t>Worker Node 1</a:t>
            </a:r>
            <a:endParaRPr lang="en-US" sz="1200" dirty="0"/>
          </a:p>
        </p:txBody>
      </p:sp>
      <p:sp>
        <p:nvSpPr>
          <p:cNvPr id="17" name="Kotak"/>
          <p:cNvSpPr/>
          <p:nvPr/>
        </p:nvSpPr>
        <p:spPr>
          <a:xfrm>
            <a:off x="5961888" y="1810512"/>
            <a:ext cx="2615184" cy="548640"/>
          </a:xfrm>
          <a:prstGeom prst="roundRect">
            <a:avLst>
              <a:gd name="adj" fmla="val 13333"/>
            </a:avLst>
          </a:prstGeom>
          <a:solidFill>
            <a:schemeClr val="accent1"/>
          </a:solidFill>
          <a:ln w="12700">
            <a:solidFill>
              <a:schemeClr val="accent1"/>
            </a:solidFill>
            <a:prstDash val="solid"/>
          </a:ln>
        </p:spPr>
      </p:sp>
      <p:sp>
        <p:nvSpPr>
          <p:cNvPr id="18" name="Text 15"/>
          <p:cNvSpPr txBox="1"/>
          <p:nvPr/>
        </p:nvSpPr>
        <p:spPr>
          <a:xfrm>
            <a:off x="5961888" y="1810512"/>
            <a:ext cx="2615184" cy="548640"/>
          </a:xfrm>
          <a:prstGeom prst="rect">
            <a:avLst/>
          </a:prstGeom>
          <a:noFill/>
          <a:ln/>
        </p:spPr>
        <p:txBody>
          <a:bodyPr wrap="square" lIns="508" tIns="508" rIns="508" bIns="508" rtlCol="0" anchor="ctr"/>
          <a:lstStyle/>
          <a:p>
            <a:pPr algn="ctr" indent="0" marL="0">
              <a:buNone/>
            </a:pPr>
            <a:r>
              <a:rPr lang="en-US" sz="1200" b="1" dirty="0">
                <a:solidFill>
                  <a:schemeClr val="bg1"/>
                </a:solidFill>
              </a:rPr>
              <a:t>Executor: Task Task + Cache</a:t>
            </a:r>
            <a:endParaRPr lang="en-US" sz="1200" dirty="0"/>
          </a:p>
        </p:txBody>
      </p:sp>
      <p:sp>
        <p:nvSpPr>
          <p:cNvPr id="19" name="Kartu"/>
          <p:cNvSpPr/>
          <p:nvPr/>
        </p:nvSpPr>
        <p:spPr>
          <a:xfrm>
            <a:off x="5852160" y="2514600"/>
            <a:ext cx="2834640" cy="960120"/>
          </a:xfrm>
          <a:prstGeom prst="roundRect">
            <a:avLst>
              <a:gd name="adj" fmla="val 952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5961888" y="2551176"/>
            <a:ext cx="2926080" cy="274320"/>
          </a:xfrm>
          <a:prstGeom prst="rect">
            <a:avLst/>
          </a:prstGeom>
          <a:noFill/>
          <a:ln/>
        </p:spPr>
        <p:txBody>
          <a:bodyPr wrap="square" lIns="0" tIns="0" rIns="0" bIns="0" rtlCol="0" anchor="ctr"/>
          <a:lstStyle/>
          <a:p>
            <a:pPr indent="0" marL="0">
              <a:buNone/>
            </a:pPr>
            <a:r>
              <a:rPr lang="en-US" sz="1200" b="1" dirty="0">
                <a:solidFill>
                  <a:schemeClr val="tx2"/>
                </a:solidFill>
              </a:rPr>
              <a:t>Worker Node 2</a:t>
            </a:r>
            <a:endParaRPr lang="en-US" sz="1200" dirty="0"/>
          </a:p>
        </p:txBody>
      </p:sp>
      <p:sp>
        <p:nvSpPr>
          <p:cNvPr id="21" name="Kotak"/>
          <p:cNvSpPr/>
          <p:nvPr/>
        </p:nvSpPr>
        <p:spPr>
          <a:xfrm>
            <a:off x="5961888" y="2862072"/>
            <a:ext cx="2615184" cy="548640"/>
          </a:xfrm>
          <a:prstGeom prst="roundRect">
            <a:avLst>
              <a:gd name="adj" fmla="val 13333"/>
            </a:avLst>
          </a:prstGeom>
          <a:solidFill>
            <a:schemeClr val="accent1"/>
          </a:solidFill>
          <a:ln w="12700">
            <a:solidFill>
              <a:schemeClr val="accent1"/>
            </a:solidFill>
            <a:prstDash val="solid"/>
          </a:ln>
        </p:spPr>
      </p:sp>
      <p:sp>
        <p:nvSpPr>
          <p:cNvPr id="22" name="Text 19"/>
          <p:cNvSpPr txBox="1"/>
          <p:nvPr/>
        </p:nvSpPr>
        <p:spPr>
          <a:xfrm>
            <a:off x="5961888" y="2862072"/>
            <a:ext cx="2615184" cy="548640"/>
          </a:xfrm>
          <a:prstGeom prst="rect">
            <a:avLst/>
          </a:prstGeom>
          <a:noFill/>
          <a:ln/>
        </p:spPr>
        <p:txBody>
          <a:bodyPr wrap="square" lIns="508" tIns="508" rIns="508" bIns="508" rtlCol="0" anchor="ctr"/>
          <a:lstStyle/>
          <a:p>
            <a:pPr algn="ctr" indent="0" marL="0">
              <a:buNone/>
            </a:pPr>
            <a:r>
              <a:rPr lang="en-US" sz="1200" b="1" dirty="0">
                <a:solidFill>
                  <a:schemeClr val="bg1"/>
                </a:solidFill>
              </a:rPr>
              <a:t>Executor: Task Task + Cache</a:t>
            </a:r>
            <a:endParaRPr lang="en-US" sz="1200" dirty="0"/>
          </a:p>
        </p:txBody>
      </p:sp>
      <p:sp>
        <p:nvSpPr>
          <p:cNvPr id="23" name="Kartu"/>
          <p:cNvSpPr/>
          <p:nvPr/>
        </p:nvSpPr>
        <p:spPr>
          <a:xfrm>
            <a:off x="5852160" y="3566160"/>
            <a:ext cx="2834640" cy="960120"/>
          </a:xfrm>
          <a:prstGeom prst="roundRect">
            <a:avLst>
              <a:gd name="adj" fmla="val 952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5961888" y="3602736"/>
            <a:ext cx="2926080" cy="274320"/>
          </a:xfrm>
          <a:prstGeom prst="rect">
            <a:avLst/>
          </a:prstGeom>
          <a:noFill/>
          <a:ln/>
        </p:spPr>
        <p:txBody>
          <a:bodyPr wrap="square" lIns="0" tIns="0" rIns="0" bIns="0" rtlCol="0" anchor="ctr"/>
          <a:lstStyle/>
          <a:p>
            <a:pPr indent="0" marL="0">
              <a:buNone/>
            </a:pPr>
            <a:r>
              <a:rPr lang="en-US" sz="1200" b="1" dirty="0">
                <a:solidFill>
                  <a:schemeClr val="tx2"/>
                </a:solidFill>
              </a:rPr>
              <a:t>Worker Node 3</a:t>
            </a:r>
            <a:endParaRPr lang="en-US" sz="1200" dirty="0"/>
          </a:p>
        </p:txBody>
      </p:sp>
      <p:sp>
        <p:nvSpPr>
          <p:cNvPr id="25" name="Kotak"/>
          <p:cNvSpPr/>
          <p:nvPr/>
        </p:nvSpPr>
        <p:spPr>
          <a:xfrm>
            <a:off x="5961888" y="3913632"/>
            <a:ext cx="2615184" cy="548640"/>
          </a:xfrm>
          <a:prstGeom prst="roundRect">
            <a:avLst>
              <a:gd name="adj" fmla="val 13333"/>
            </a:avLst>
          </a:prstGeom>
          <a:solidFill>
            <a:schemeClr val="accent1"/>
          </a:solidFill>
          <a:ln w="12700">
            <a:solidFill>
              <a:schemeClr val="accent1"/>
            </a:solidFill>
            <a:prstDash val="solid"/>
          </a:ln>
        </p:spPr>
      </p:sp>
      <p:sp>
        <p:nvSpPr>
          <p:cNvPr id="26" name="Text 23"/>
          <p:cNvSpPr txBox="1"/>
          <p:nvPr/>
        </p:nvSpPr>
        <p:spPr>
          <a:xfrm>
            <a:off x="5961888" y="3913632"/>
            <a:ext cx="2615184" cy="548640"/>
          </a:xfrm>
          <a:prstGeom prst="rect">
            <a:avLst/>
          </a:prstGeom>
          <a:noFill/>
          <a:ln/>
        </p:spPr>
        <p:txBody>
          <a:bodyPr wrap="square" lIns="508" tIns="508" rIns="508" bIns="508" rtlCol="0" anchor="ctr"/>
          <a:lstStyle/>
          <a:p>
            <a:pPr algn="ctr" indent="0" marL="0">
              <a:buNone/>
            </a:pPr>
            <a:r>
              <a:rPr lang="en-US" sz="1200" b="1" dirty="0">
                <a:solidFill>
                  <a:schemeClr val="bg1"/>
                </a:solidFill>
              </a:rPr>
              <a:t>Executor: Task Task + Cache</a:t>
            </a:r>
            <a:endParaRPr lang="en-US" sz="1200" dirty="0"/>
          </a:p>
        </p:txBody>
      </p:sp>
      <p:sp>
        <p:nvSpPr>
          <p:cNvPr id="27" name="Shape 24"/>
          <p:cNvSpPr/>
          <p:nvPr/>
        </p:nvSpPr>
        <p:spPr>
          <a:xfrm>
            <a:off x="2377440" y="1920240"/>
            <a:ext cx="1005840" cy="0"/>
          </a:xfrm>
          <a:prstGeom prst="line">
            <a:avLst/>
          </a:prstGeom>
          <a:noFill/>
          <a:ln w="22225">
            <a:solidFill>
              <a:schemeClr val="tx1"/>
            </a:solidFill>
            <a:prstDash val="solid"/>
            <a:tailEnd type="triangle"/>
          </a:ln>
        </p:spPr>
      </p:sp>
      <p:sp>
        <p:nvSpPr>
          <p:cNvPr id="28" name="Text 25"/>
          <p:cNvSpPr txBox="1"/>
          <p:nvPr/>
        </p:nvSpPr>
        <p:spPr>
          <a:xfrm>
            <a:off x="2377440" y="1508760"/>
            <a:ext cx="1005840" cy="365760"/>
          </a:xfrm>
          <a:prstGeom prst="rect">
            <a:avLst/>
          </a:prstGeom>
          <a:noFill/>
          <a:ln/>
        </p:spPr>
        <p:txBody>
          <a:bodyPr wrap="square" lIns="0" tIns="0" rIns="0" bIns="0" rtlCol="0" anchor="ctr"/>
          <a:lstStyle/>
          <a:p>
            <a:pPr algn="ctr" indent="0" marL="0">
              <a:buNone/>
            </a:pPr>
            <a:r>
              <a:rPr lang="en-US" sz="1000" dirty="0">
                <a:solidFill>
                  <a:schemeClr val="tx2"/>
                </a:solidFill>
              </a:rPr>
              <a:t>minta resource</a:t>
            </a:r>
            <a:endParaRPr lang="en-US" sz="1000" dirty="0"/>
          </a:p>
        </p:txBody>
      </p:sp>
      <p:sp>
        <p:nvSpPr>
          <p:cNvPr id="29" name="Shape 26"/>
          <p:cNvSpPr/>
          <p:nvPr/>
        </p:nvSpPr>
        <p:spPr>
          <a:xfrm>
            <a:off x="4846320" y="1920240"/>
            <a:ext cx="1005840" cy="0"/>
          </a:xfrm>
          <a:prstGeom prst="line">
            <a:avLst/>
          </a:prstGeom>
          <a:noFill/>
          <a:ln w="22225">
            <a:solidFill>
              <a:schemeClr val="tx1"/>
            </a:solidFill>
            <a:prstDash val="solid"/>
            <a:tailEnd type="triangle"/>
          </a:ln>
        </p:spPr>
      </p:sp>
      <p:sp>
        <p:nvSpPr>
          <p:cNvPr id="30" name="Text 27"/>
          <p:cNvSpPr txBox="1"/>
          <p:nvPr/>
        </p:nvSpPr>
        <p:spPr>
          <a:xfrm>
            <a:off x="4846320" y="1508760"/>
            <a:ext cx="1005840" cy="365760"/>
          </a:xfrm>
          <a:prstGeom prst="rect">
            <a:avLst/>
          </a:prstGeom>
          <a:noFill/>
          <a:ln/>
        </p:spPr>
        <p:txBody>
          <a:bodyPr wrap="square" lIns="0" tIns="0" rIns="0" bIns="0" rtlCol="0" anchor="ctr"/>
          <a:lstStyle/>
          <a:p>
            <a:pPr algn="ctr" indent="0" marL="0">
              <a:buNone/>
            </a:pPr>
            <a:r>
              <a:rPr lang="en-US" sz="1000" dirty="0">
                <a:solidFill>
                  <a:schemeClr val="tx2"/>
                </a:solidFill>
              </a:rPr>
              <a:t>luncurkan executor</a:t>
            </a:r>
            <a:endParaRPr lang="en-US" sz="1000" dirty="0"/>
          </a:p>
        </p:txBody>
      </p:sp>
      <p:sp>
        <p:nvSpPr>
          <p:cNvPr id="31" name="Shape 28"/>
          <p:cNvSpPr/>
          <p:nvPr/>
        </p:nvSpPr>
        <p:spPr>
          <a:xfrm>
            <a:off x="2377440" y="4023360"/>
            <a:ext cx="3474720" cy="0"/>
          </a:xfrm>
          <a:prstGeom prst="line">
            <a:avLst/>
          </a:prstGeom>
          <a:noFill/>
          <a:ln w="22225">
            <a:solidFill>
              <a:schemeClr val="accent1"/>
            </a:solidFill>
            <a:prstDash val="dash"/>
            <a:tailEnd type="triangle"/>
          </a:ln>
        </p:spPr>
      </p:sp>
      <p:sp>
        <p:nvSpPr>
          <p:cNvPr id="32" name="Text 29"/>
          <p:cNvSpPr txBox="1"/>
          <p:nvPr/>
        </p:nvSpPr>
        <p:spPr>
          <a:xfrm>
            <a:off x="2926080" y="4069080"/>
            <a:ext cx="2651760" cy="274320"/>
          </a:xfrm>
          <a:prstGeom prst="rect">
            <a:avLst/>
          </a:prstGeom>
          <a:noFill/>
          <a:ln/>
        </p:spPr>
        <p:txBody>
          <a:bodyPr wrap="square" lIns="0" tIns="0" rIns="0" bIns="0" rtlCol="0" anchor="ctr"/>
          <a:lstStyle/>
          <a:p>
            <a:pPr algn="ctr" indent="0" marL="0">
              <a:buNone/>
            </a:pPr>
            <a:r>
              <a:rPr lang="en-US" sz="1200" b="1" dirty="0">
                <a:solidFill>
                  <a:schemeClr val="accent1"/>
                </a:solidFill>
              </a:rPr>
              <a:t>kirim task  ↔  terima hasil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Peran Setiap Komponen</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4 · ARSITEKTUR</a:t>
            </a:r>
            <a:endParaRPr lang="en-US" sz="1200" dirty="0"/>
          </a:p>
        </p:txBody>
      </p:sp>
      <p:sp>
        <p:nvSpPr>
          <p:cNvPr id="5" name="Kartu"/>
          <p:cNvSpPr/>
          <p:nvPr/>
        </p:nvSpPr>
        <p:spPr>
          <a:xfrm>
            <a:off x="457200" y="1371600"/>
            <a:ext cx="402336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Lingkaran"/>
          <p:cNvSpPr/>
          <p:nvPr/>
        </p:nvSpPr>
        <p:spPr>
          <a:xfrm>
            <a:off x="640080" y="1536192"/>
            <a:ext cx="457200" cy="457200"/>
          </a:xfrm>
          <a:prstGeom prst="ellipse">
            <a:avLst/>
          </a:prstGeom>
          <a:solidFill>
            <a:schemeClr val="accent4"/>
          </a:solidFill>
          <a:ln w="12700">
            <a:solidFill>
              <a:schemeClr val="accent4"/>
            </a:solidFill>
            <a:prstDash val="solid"/>
          </a:ln>
        </p:spPr>
      </p:sp>
      <p:sp>
        <p:nvSpPr>
          <p:cNvPr id="7" name="Text 4"/>
          <p:cNvSpPr txBox="1"/>
          <p:nvPr/>
        </p:nvSpPr>
        <p:spPr>
          <a:xfrm>
            <a:off x="640080" y="1536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1234440" y="1536192"/>
            <a:ext cx="3108960" cy="457200"/>
          </a:xfrm>
          <a:prstGeom prst="rect">
            <a:avLst/>
          </a:prstGeom>
          <a:noFill/>
          <a:ln/>
        </p:spPr>
        <p:txBody>
          <a:bodyPr wrap="square" lIns="0" tIns="0" rIns="0" bIns="0" rtlCol="0" anchor="ctr"/>
          <a:lstStyle/>
          <a:p>
            <a:pPr indent="0" marL="0">
              <a:buNone/>
            </a:pPr>
            <a:r>
              <a:rPr lang="en-US" sz="1700" b="1" dirty="0">
                <a:solidFill>
                  <a:schemeClr val="tx1"/>
                </a:solidFill>
              </a:rPr>
              <a:t>Driver Program</a:t>
            </a:r>
            <a:endParaRPr lang="en-US" sz="1700" dirty="0"/>
          </a:p>
        </p:txBody>
      </p:sp>
      <p:sp>
        <p:nvSpPr>
          <p:cNvPr id="9" name="Text 6"/>
          <p:cNvSpPr txBox="1"/>
          <p:nvPr/>
        </p:nvSpPr>
        <p:spPr>
          <a:xfrm>
            <a:off x="640080" y="2084832"/>
            <a:ext cx="3657600" cy="731520"/>
          </a:xfrm>
          <a:prstGeom prst="rect">
            <a:avLst/>
          </a:prstGeom>
          <a:noFill/>
          <a:ln/>
        </p:spPr>
        <p:txBody>
          <a:bodyPr wrap="square" lIns="0" tIns="0" rIns="0" bIns="0" rtlCol="0" anchor="t"/>
          <a:lstStyle/>
          <a:p>
            <a:pPr indent="0" marL="0">
              <a:buNone/>
            </a:pPr>
            <a:r>
              <a:rPr lang="en-US" sz="1300" dirty="0">
                <a:solidFill>
                  <a:schemeClr val="tx1"/>
                </a:solidFill>
              </a:rPr>
              <a:t>Menjalankan kode aplikasi, membuat SparkSession, membangun DAG, memecah menjadi stage &amp; task, lalu memantau eksekusi.</a:t>
            </a:r>
            <a:endParaRPr lang="en-US" sz="1300" dirty="0"/>
          </a:p>
        </p:txBody>
      </p:sp>
      <p:sp>
        <p:nvSpPr>
          <p:cNvPr id="10" name="Kartu"/>
          <p:cNvSpPr/>
          <p:nvPr/>
        </p:nvSpPr>
        <p:spPr>
          <a:xfrm>
            <a:off x="4663440" y="1371600"/>
            <a:ext cx="402336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Lingkaran"/>
          <p:cNvSpPr/>
          <p:nvPr/>
        </p:nvSpPr>
        <p:spPr>
          <a:xfrm>
            <a:off x="4846320" y="1536192"/>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4846320" y="1536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0"/>
          <p:cNvSpPr txBox="1"/>
          <p:nvPr/>
        </p:nvSpPr>
        <p:spPr>
          <a:xfrm>
            <a:off x="5440680" y="1536192"/>
            <a:ext cx="3108960" cy="457200"/>
          </a:xfrm>
          <a:prstGeom prst="rect">
            <a:avLst/>
          </a:prstGeom>
          <a:noFill/>
          <a:ln/>
        </p:spPr>
        <p:txBody>
          <a:bodyPr wrap="square" lIns="0" tIns="0" rIns="0" bIns="0" rtlCol="0" anchor="ctr"/>
          <a:lstStyle/>
          <a:p>
            <a:pPr indent="0" marL="0">
              <a:buNone/>
            </a:pPr>
            <a:r>
              <a:rPr lang="en-US" sz="1700" b="1" dirty="0">
                <a:solidFill>
                  <a:schemeClr val="tx1"/>
                </a:solidFill>
              </a:rPr>
              <a:t>Cluster Manager</a:t>
            </a:r>
            <a:endParaRPr lang="en-US" sz="1700" dirty="0"/>
          </a:p>
        </p:txBody>
      </p:sp>
      <p:sp>
        <p:nvSpPr>
          <p:cNvPr id="14" name="Text 11"/>
          <p:cNvSpPr txBox="1"/>
          <p:nvPr/>
        </p:nvSpPr>
        <p:spPr>
          <a:xfrm>
            <a:off x="4846320" y="2084832"/>
            <a:ext cx="3657600" cy="731520"/>
          </a:xfrm>
          <a:prstGeom prst="rect">
            <a:avLst/>
          </a:prstGeom>
          <a:noFill/>
          <a:ln/>
        </p:spPr>
        <p:txBody>
          <a:bodyPr wrap="square" lIns="0" tIns="0" rIns="0" bIns="0" rtlCol="0" anchor="t"/>
          <a:lstStyle/>
          <a:p>
            <a:pPr indent="0" marL="0">
              <a:buNone/>
            </a:pPr>
            <a:r>
              <a:rPr lang="en-US" sz="1300" dirty="0">
                <a:solidFill>
                  <a:schemeClr val="tx1"/>
                </a:solidFill>
              </a:rPr>
              <a:t>Mengalokasikan CPU &amp; memori antar aplikasi (Standalone, YARN, Kubernetes, Mesos). Tidak tahu logika aplikasi.</a:t>
            </a:r>
            <a:endParaRPr lang="en-US" sz="1300" dirty="0"/>
          </a:p>
        </p:txBody>
      </p:sp>
      <p:sp>
        <p:nvSpPr>
          <p:cNvPr id="15" name="Kartu"/>
          <p:cNvSpPr/>
          <p:nvPr/>
        </p:nvSpPr>
        <p:spPr>
          <a:xfrm>
            <a:off x="457200" y="3017520"/>
            <a:ext cx="402336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Lingkaran"/>
          <p:cNvSpPr/>
          <p:nvPr/>
        </p:nvSpPr>
        <p:spPr>
          <a:xfrm>
            <a:off x="640080" y="3182112"/>
            <a:ext cx="457200" cy="457200"/>
          </a:xfrm>
          <a:prstGeom prst="ellipse">
            <a:avLst/>
          </a:prstGeom>
          <a:solidFill>
            <a:schemeClr val="accent5"/>
          </a:solidFill>
          <a:ln w="12700">
            <a:solidFill>
              <a:schemeClr val="accent5"/>
            </a:solidFill>
            <a:prstDash val="solid"/>
          </a:ln>
        </p:spPr>
      </p:sp>
      <p:sp>
        <p:nvSpPr>
          <p:cNvPr id="17" name="Text 14"/>
          <p:cNvSpPr txBox="1"/>
          <p:nvPr/>
        </p:nvSpPr>
        <p:spPr>
          <a:xfrm>
            <a:off x="640080" y="31821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234440" y="3182112"/>
            <a:ext cx="3108960" cy="457200"/>
          </a:xfrm>
          <a:prstGeom prst="rect">
            <a:avLst/>
          </a:prstGeom>
          <a:noFill/>
          <a:ln/>
        </p:spPr>
        <p:txBody>
          <a:bodyPr wrap="square" lIns="0" tIns="0" rIns="0" bIns="0" rtlCol="0" anchor="ctr"/>
          <a:lstStyle/>
          <a:p>
            <a:pPr indent="0" marL="0">
              <a:buNone/>
            </a:pPr>
            <a:r>
              <a:rPr lang="en-US" sz="1700" b="1" dirty="0">
                <a:solidFill>
                  <a:schemeClr val="tx1"/>
                </a:solidFill>
              </a:rPr>
              <a:t>Worker Node</a:t>
            </a:r>
            <a:endParaRPr lang="en-US" sz="1700" dirty="0"/>
          </a:p>
        </p:txBody>
      </p:sp>
      <p:sp>
        <p:nvSpPr>
          <p:cNvPr id="19" name="Text 16"/>
          <p:cNvSpPr txBox="1"/>
          <p:nvPr/>
        </p:nvSpPr>
        <p:spPr>
          <a:xfrm>
            <a:off x="640080" y="3730752"/>
            <a:ext cx="3657600" cy="731520"/>
          </a:xfrm>
          <a:prstGeom prst="rect">
            <a:avLst/>
          </a:prstGeom>
          <a:noFill/>
          <a:ln/>
        </p:spPr>
        <p:txBody>
          <a:bodyPr wrap="square" lIns="0" tIns="0" rIns="0" bIns="0" rtlCol="0" anchor="t"/>
          <a:lstStyle/>
          <a:p>
            <a:pPr indent="0" marL="0">
              <a:buNone/>
            </a:pPr>
            <a:r>
              <a:rPr lang="en-US" sz="1300" dirty="0">
                <a:solidFill>
                  <a:schemeClr val="tx1"/>
                </a:solidFill>
              </a:rPr>
              <a:t>Mesin (fisik/VM) di dalam klaster yang menyediakan resource dan menjadi tuan rumah bagi executor.</a:t>
            </a:r>
            <a:endParaRPr lang="en-US" sz="1300" dirty="0"/>
          </a:p>
        </p:txBody>
      </p:sp>
      <p:sp>
        <p:nvSpPr>
          <p:cNvPr id="20" name="Kartu"/>
          <p:cNvSpPr/>
          <p:nvPr/>
        </p:nvSpPr>
        <p:spPr>
          <a:xfrm>
            <a:off x="4663440" y="3017520"/>
            <a:ext cx="402336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Lingkaran"/>
          <p:cNvSpPr/>
          <p:nvPr/>
        </p:nvSpPr>
        <p:spPr>
          <a:xfrm>
            <a:off x="4846320" y="3182112"/>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4846320" y="31821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3" name="Text 20"/>
          <p:cNvSpPr txBox="1"/>
          <p:nvPr/>
        </p:nvSpPr>
        <p:spPr>
          <a:xfrm>
            <a:off x="5440680" y="3182112"/>
            <a:ext cx="3108960" cy="457200"/>
          </a:xfrm>
          <a:prstGeom prst="rect">
            <a:avLst/>
          </a:prstGeom>
          <a:noFill/>
          <a:ln/>
        </p:spPr>
        <p:txBody>
          <a:bodyPr wrap="square" lIns="0" tIns="0" rIns="0" bIns="0" rtlCol="0" anchor="ctr"/>
          <a:lstStyle/>
          <a:p>
            <a:pPr indent="0" marL="0">
              <a:buNone/>
            </a:pPr>
            <a:r>
              <a:rPr lang="en-US" sz="1700" b="1" dirty="0">
                <a:solidFill>
                  <a:schemeClr val="tx1"/>
                </a:solidFill>
              </a:rPr>
              <a:t>Executor</a:t>
            </a:r>
            <a:endParaRPr lang="en-US" sz="1700" dirty="0"/>
          </a:p>
        </p:txBody>
      </p:sp>
      <p:sp>
        <p:nvSpPr>
          <p:cNvPr id="24" name="Text 21"/>
          <p:cNvSpPr txBox="1"/>
          <p:nvPr/>
        </p:nvSpPr>
        <p:spPr>
          <a:xfrm>
            <a:off x="4846320" y="3730752"/>
            <a:ext cx="3657600" cy="731520"/>
          </a:xfrm>
          <a:prstGeom prst="rect">
            <a:avLst/>
          </a:prstGeom>
          <a:noFill/>
          <a:ln/>
        </p:spPr>
        <p:txBody>
          <a:bodyPr wrap="square" lIns="0" tIns="0" rIns="0" bIns="0" rtlCol="0" anchor="t"/>
          <a:lstStyle/>
          <a:p>
            <a:pPr indent="0" marL="0">
              <a:buNone/>
            </a:pPr>
            <a:r>
              <a:rPr lang="en-US" sz="1300" dirty="0">
                <a:solidFill>
                  <a:schemeClr val="tx1"/>
                </a:solidFill>
              </a:rPr>
              <a:t>Proses JVM di worker: menjalankan task secara paralel, menyimpan data cache, dan melapor hasil ke Driver.</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Kolaborasi Memproses Data Masif</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4 · ARSITEKTUR</a:t>
            </a:r>
            <a:endParaRPr lang="en-US" sz="1200" dirty="0"/>
          </a:p>
        </p:txBody>
      </p:sp>
      <p:sp>
        <p:nvSpPr>
          <p:cNvPr id="5" name="Lingkaran"/>
          <p:cNvSpPr/>
          <p:nvPr/>
        </p:nvSpPr>
        <p:spPr>
          <a:xfrm>
            <a:off x="457200" y="1417320"/>
            <a:ext cx="457200" cy="457200"/>
          </a:xfrm>
          <a:prstGeom prst="ellipse">
            <a:avLst/>
          </a:prstGeom>
          <a:solidFill>
            <a:schemeClr val="accent2"/>
          </a:solidFill>
          <a:ln w="12700">
            <a:solidFill>
              <a:schemeClr val="accent2"/>
            </a:solidFill>
            <a:prstDash val="solid"/>
          </a:ln>
        </p:spPr>
      </p:sp>
      <p:sp>
        <p:nvSpPr>
          <p:cNvPr id="6" name="Text 3"/>
          <p:cNvSpPr txBox="1"/>
          <p:nvPr/>
        </p:nvSpPr>
        <p:spPr>
          <a:xfrm>
            <a:off x="457200" y="1417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1097280" y="1371600"/>
            <a:ext cx="4572000" cy="566928"/>
          </a:xfrm>
          <a:prstGeom prst="rect">
            <a:avLst/>
          </a:prstGeom>
          <a:noFill/>
          <a:ln/>
        </p:spPr>
        <p:txBody>
          <a:bodyPr wrap="square" lIns="0" tIns="0" rIns="0" bIns="0" rtlCol="0" anchor="ctr"/>
          <a:lstStyle/>
          <a:p>
            <a:pPr indent="0" marL="0">
              <a:buNone/>
            </a:pPr>
            <a:r>
              <a:rPr lang="en-US" sz="1400" dirty="0">
                <a:solidFill>
                  <a:schemeClr val="tx1"/>
                </a:solidFill>
              </a:rPr>
              <a:t>Driver membangun DAG saat action dipanggil, memecahnya menjadi stage dan task per partisi</a:t>
            </a:r>
            <a:endParaRPr lang="en-US" sz="1400" dirty="0"/>
          </a:p>
        </p:txBody>
      </p:sp>
      <p:sp>
        <p:nvSpPr>
          <p:cNvPr id="8" name="Lingkaran"/>
          <p:cNvSpPr/>
          <p:nvPr/>
        </p:nvSpPr>
        <p:spPr>
          <a:xfrm>
            <a:off x="457200" y="2057400"/>
            <a:ext cx="457200" cy="457200"/>
          </a:xfrm>
          <a:prstGeom prst="ellipse">
            <a:avLst/>
          </a:prstGeom>
          <a:solidFill>
            <a:schemeClr val="accent2"/>
          </a:solidFill>
          <a:ln w="12700">
            <a:solidFill>
              <a:schemeClr val="accent2"/>
            </a:solidFill>
            <a:prstDash val="solid"/>
          </a:ln>
        </p:spPr>
      </p:sp>
      <p:sp>
        <p:nvSpPr>
          <p:cNvPr id="9" name="Text 6"/>
          <p:cNvSpPr txBox="1"/>
          <p:nvPr/>
        </p:nvSpPr>
        <p:spPr>
          <a:xfrm>
            <a:off x="457200" y="2057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7"/>
          <p:cNvSpPr txBox="1"/>
          <p:nvPr/>
        </p:nvSpPr>
        <p:spPr>
          <a:xfrm>
            <a:off x="1097280" y="2011680"/>
            <a:ext cx="4572000" cy="566928"/>
          </a:xfrm>
          <a:prstGeom prst="rect">
            <a:avLst/>
          </a:prstGeom>
          <a:noFill/>
          <a:ln/>
        </p:spPr>
        <p:txBody>
          <a:bodyPr wrap="square" lIns="0" tIns="0" rIns="0" bIns="0" rtlCol="0" anchor="ctr"/>
          <a:lstStyle/>
          <a:p>
            <a:pPr indent="0" marL="0">
              <a:buNone/>
            </a:pPr>
            <a:r>
              <a:rPr lang="en-US" sz="1400" dirty="0">
                <a:solidFill>
                  <a:schemeClr val="tx1"/>
                </a:solidFill>
              </a:rPr>
              <a:t>Driver meminta executor ke Cluster Manager, yang meluncurkannya di Worker Node</a:t>
            </a:r>
            <a:endParaRPr lang="en-US" sz="1400" dirty="0"/>
          </a:p>
        </p:txBody>
      </p:sp>
      <p:sp>
        <p:nvSpPr>
          <p:cNvPr id="11" name="Lingkaran"/>
          <p:cNvSpPr/>
          <p:nvPr/>
        </p:nvSpPr>
        <p:spPr>
          <a:xfrm>
            <a:off x="457200" y="2697480"/>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457200" y="26974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0"/>
          <p:cNvSpPr txBox="1"/>
          <p:nvPr/>
        </p:nvSpPr>
        <p:spPr>
          <a:xfrm>
            <a:off x="1097280" y="2651760"/>
            <a:ext cx="4572000" cy="566928"/>
          </a:xfrm>
          <a:prstGeom prst="rect">
            <a:avLst/>
          </a:prstGeom>
          <a:noFill/>
          <a:ln/>
        </p:spPr>
        <p:txBody>
          <a:bodyPr wrap="square" lIns="0" tIns="0" rIns="0" bIns="0" rtlCol="0" anchor="ctr"/>
          <a:lstStyle/>
          <a:p>
            <a:pPr indent="0" marL="0">
              <a:buNone/>
            </a:pPr>
            <a:r>
              <a:rPr lang="en-US" sz="1400" dirty="0">
                <a:solidFill>
                  <a:schemeClr val="tx1"/>
                </a:solidFill>
              </a:rPr>
              <a:t>Task dikirim ke executor, diutamakan yang dekat dengan data (data locality)</a:t>
            </a:r>
            <a:endParaRPr lang="en-US" sz="1400" dirty="0"/>
          </a:p>
        </p:txBody>
      </p:sp>
      <p:sp>
        <p:nvSpPr>
          <p:cNvPr id="14" name="Lingkaran"/>
          <p:cNvSpPr/>
          <p:nvPr/>
        </p:nvSpPr>
        <p:spPr>
          <a:xfrm>
            <a:off x="457200" y="3337560"/>
            <a:ext cx="457200" cy="457200"/>
          </a:xfrm>
          <a:prstGeom prst="ellipse">
            <a:avLst/>
          </a:prstGeom>
          <a:solidFill>
            <a:schemeClr val="accent2"/>
          </a:solidFill>
          <a:ln w="12700">
            <a:solidFill>
              <a:schemeClr val="accent2"/>
            </a:solidFill>
            <a:prstDash val="solid"/>
          </a:ln>
        </p:spPr>
      </p:sp>
      <p:sp>
        <p:nvSpPr>
          <p:cNvPr id="15" name="Text 12"/>
          <p:cNvSpPr txBox="1"/>
          <p:nvPr/>
        </p:nvSpPr>
        <p:spPr>
          <a:xfrm>
            <a:off x="457200" y="33375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Text 13"/>
          <p:cNvSpPr txBox="1"/>
          <p:nvPr/>
        </p:nvSpPr>
        <p:spPr>
          <a:xfrm>
            <a:off x="1097280" y="3291840"/>
            <a:ext cx="4572000" cy="566928"/>
          </a:xfrm>
          <a:prstGeom prst="rect">
            <a:avLst/>
          </a:prstGeom>
          <a:noFill/>
          <a:ln/>
        </p:spPr>
        <p:txBody>
          <a:bodyPr wrap="square" lIns="0" tIns="0" rIns="0" bIns="0" rtlCol="0" anchor="ctr"/>
          <a:lstStyle/>
          <a:p>
            <a:pPr indent="0" marL="0">
              <a:buNone/>
            </a:pPr>
            <a:r>
              <a:rPr lang="en-US" sz="1400" dirty="0">
                <a:solidFill>
                  <a:schemeClr val="tx1"/>
                </a:solidFill>
              </a:rPr>
              <a:t>Executor memproses partisi secara paralel; antar stage terjadi shuffle</a:t>
            </a:r>
            <a:endParaRPr lang="en-US" sz="1400" dirty="0"/>
          </a:p>
        </p:txBody>
      </p:sp>
      <p:sp>
        <p:nvSpPr>
          <p:cNvPr id="17" name="Lingkaran"/>
          <p:cNvSpPr/>
          <p:nvPr/>
        </p:nvSpPr>
        <p:spPr>
          <a:xfrm>
            <a:off x="457200" y="3977640"/>
            <a:ext cx="457200" cy="457200"/>
          </a:xfrm>
          <a:prstGeom prst="ellipse">
            <a:avLst/>
          </a:prstGeom>
          <a:solidFill>
            <a:schemeClr val="accent2"/>
          </a:solidFill>
          <a:ln w="12700">
            <a:solidFill>
              <a:schemeClr val="accent2"/>
            </a:solidFill>
            <a:prstDash val="solid"/>
          </a:ln>
        </p:spPr>
      </p:sp>
      <p:sp>
        <p:nvSpPr>
          <p:cNvPr id="18" name="Text 15"/>
          <p:cNvSpPr txBox="1"/>
          <p:nvPr/>
        </p:nvSpPr>
        <p:spPr>
          <a:xfrm>
            <a:off x="457200" y="39776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9" name="Text 16"/>
          <p:cNvSpPr txBox="1"/>
          <p:nvPr/>
        </p:nvSpPr>
        <p:spPr>
          <a:xfrm>
            <a:off x="1097280" y="3931920"/>
            <a:ext cx="4572000" cy="566928"/>
          </a:xfrm>
          <a:prstGeom prst="rect">
            <a:avLst/>
          </a:prstGeom>
          <a:noFill/>
          <a:ln/>
        </p:spPr>
        <p:txBody>
          <a:bodyPr wrap="square" lIns="0" tIns="0" rIns="0" bIns="0" rtlCol="0" anchor="ctr"/>
          <a:lstStyle/>
          <a:p>
            <a:pPr indent="0" marL="0">
              <a:buNone/>
            </a:pPr>
            <a:r>
              <a:rPr lang="en-US" sz="1400" dirty="0">
                <a:solidFill>
                  <a:schemeClr val="tx1"/>
                </a:solidFill>
              </a:rPr>
              <a:t>Hasil agregat dikirim ke Driver atau ditulis ke penyimpanan terdistribusi</a:t>
            </a:r>
            <a:endParaRPr lang="en-US" sz="1400" dirty="0"/>
          </a:p>
        </p:txBody>
      </p:sp>
      <p:sp>
        <p:nvSpPr>
          <p:cNvPr id="20" name="Kartu"/>
          <p:cNvSpPr/>
          <p:nvPr/>
        </p:nvSpPr>
        <p:spPr>
          <a:xfrm>
            <a:off x="6035040" y="1371600"/>
            <a:ext cx="2651760" cy="3200400"/>
          </a:xfrm>
          <a:prstGeom prst="roundRect">
            <a:avLst>
              <a:gd name="adj" fmla="val 3448"/>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217920" y="1481328"/>
            <a:ext cx="2286000" cy="274320"/>
          </a:xfrm>
          <a:prstGeom prst="rect">
            <a:avLst/>
          </a:prstGeom>
          <a:noFill/>
          <a:ln/>
        </p:spPr>
        <p:txBody>
          <a:bodyPr wrap="square" lIns="0" tIns="0" rIns="0" bIns="0" rtlCol="0" anchor="ctr"/>
          <a:lstStyle/>
          <a:p>
            <a:pPr indent="0" marL="0">
              <a:buNone/>
            </a:pPr>
            <a:r>
              <a:rPr lang="en-US" sz="1300" b="1" dirty="0">
                <a:solidFill>
                  <a:schemeClr val="accent3"/>
                </a:solidFill>
              </a:rPr>
              <a:t>Contoh</a:t>
            </a:r>
            <a:endParaRPr lang="en-US" sz="1300" dirty="0"/>
          </a:p>
        </p:txBody>
      </p:sp>
      <p:sp>
        <p:nvSpPr>
          <p:cNvPr id="22" name="Text 19"/>
          <p:cNvSpPr txBox="1"/>
          <p:nvPr/>
        </p:nvSpPr>
        <p:spPr>
          <a:xfrm>
            <a:off x="6035040" y="1828800"/>
            <a:ext cx="2651760" cy="73152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 TB</a:t>
            </a:r>
            <a:endParaRPr lang="en-US" sz="4400" dirty="0"/>
          </a:p>
        </p:txBody>
      </p:sp>
      <p:sp>
        <p:nvSpPr>
          <p:cNvPr id="23" name="Text 20"/>
          <p:cNvSpPr txBox="1"/>
          <p:nvPr/>
        </p:nvSpPr>
        <p:spPr>
          <a:xfrm>
            <a:off x="6035040" y="2560320"/>
            <a:ext cx="2651760" cy="365760"/>
          </a:xfrm>
          <a:prstGeom prst="rect">
            <a:avLst/>
          </a:prstGeom>
          <a:noFill/>
          <a:ln/>
        </p:spPr>
        <p:txBody>
          <a:bodyPr wrap="square" lIns="0" tIns="0" rIns="0" bIns="0" rtlCol="0" anchor="ctr"/>
          <a:lstStyle/>
          <a:p>
            <a:pPr algn="ctr" indent="0" marL="0">
              <a:buNone/>
            </a:pPr>
            <a:r>
              <a:rPr lang="en-US" sz="1400" dirty="0">
                <a:solidFill>
                  <a:schemeClr val="bg1"/>
                </a:solidFill>
              </a:rPr>
              <a:t>÷ blok 128 MB</a:t>
            </a:r>
            <a:endParaRPr lang="en-US" sz="1400" dirty="0"/>
          </a:p>
        </p:txBody>
      </p:sp>
      <p:sp>
        <p:nvSpPr>
          <p:cNvPr id="24" name="Text 21"/>
          <p:cNvSpPr txBox="1"/>
          <p:nvPr/>
        </p:nvSpPr>
        <p:spPr>
          <a:xfrm>
            <a:off x="6035040" y="2926080"/>
            <a:ext cx="2651760" cy="64008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 8.192</a:t>
            </a:r>
            <a:endParaRPr lang="en-US" sz="3600" dirty="0"/>
          </a:p>
        </p:txBody>
      </p:sp>
      <p:sp>
        <p:nvSpPr>
          <p:cNvPr id="25" name="Text 22"/>
          <p:cNvSpPr txBox="1"/>
          <p:nvPr/>
        </p:nvSpPr>
        <p:spPr>
          <a:xfrm>
            <a:off x="6217920" y="3611880"/>
            <a:ext cx="2286000" cy="731520"/>
          </a:xfrm>
          <a:prstGeom prst="rect">
            <a:avLst/>
          </a:prstGeom>
          <a:noFill/>
          <a:ln/>
        </p:spPr>
        <p:txBody>
          <a:bodyPr wrap="square" lIns="0" tIns="0" rIns="0" bIns="0" rtlCol="0" anchor="ctr"/>
          <a:lstStyle/>
          <a:p>
            <a:pPr algn="ctr" indent="0" marL="0">
              <a:buNone/>
            </a:pPr>
            <a:r>
              <a:rPr lang="en-US" sz="1400" dirty="0">
                <a:solidFill>
                  <a:schemeClr val="bg1"/>
                </a:solidFill>
              </a:rPr>
              <a:t>partisi = task paralel di banyak executor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Unified Engine untuk Tantangan 3V</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5 · EKOSISTEM TERPADU</a:t>
            </a:r>
            <a:endParaRPr lang="en-US" sz="1200" dirty="0"/>
          </a:p>
        </p:txBody>
      </p:sp>
      <p:sp>
        <p:nvSpPr>
          <p:cNvPr id="5" name="Kartu"/>
          <p:cNvSpPr/>
          <p:nvPr/>
        </p:nvSpPr>
        <p:spPr>
          <a:xfrm>
            <a:off x="457200" y="1371600"/>
            <a:ext cx="2651760" cy="320040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Lingkaran"/>
          <p:cNvSpPr/>
          <p:nvPr/>
        </p:nvSpPr>
        <p:spPr>
          <a:xfrm>
            <a:off x="640080" y="1554480"/>
            <a:ext cx="640080" cy="640080"/>
          </a:xfrm>
          <a:prstGeom prst="ellipse">
            <a:avLst/>
          </a:prstGeom>
          <a:solidFill>
            <a:schemeClr val="accent4"/>
          </a:solidFill>
          <a:ln w="12700">
            <a:solidFill>
              <a:schemeClr val="accent4"/>
            </a:solidFill>
            <a:prstDash val="solid"/>
          </a:ln>
        </p:spPr>
      </p:sp>
      <p:sp>
        <p:nvSpPr>
          <p:cNvPr id="7" name="Text 4"/>
          <p:cNvSpPr txBox="1"/>
          <p:nvPr/>
        </p:nvSpPr>
        <p:spPr>
          <a:xfrm>
            <a:off x="640080" y="15544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V</a:t>
            </a:r>
            <a:endParaRPr lang="en-US" sz="2400" dirty="0"/>
          </a:p>
        </p:txBody>
      </p:sp>
      <p:sp>
        <p:nvSpPr>
          <p:cNvPr id="8" name="Text 5"/>
          <p:cNvSpPr txBox="1"/>
          <p:nvPr/>
        </p:nvSpPr>
        <p:spPr>
          <a:xfrm>
            <a:off x="1417320" y="1554480"/>
            <a:ext cx="1600200" cy="640080"/>
          </a:xfrm>
          <a:prstGeom prst="rect">
            <a:avLst/>
          </a:prstGeom>
          <a:noFill/>
          <a:ln/>
        </p:spPr>
        <p:txBody>
          <a:bodyPr wrap="square" lIns="0" tIns="0" rIns="0" bIns="0" rtlCol="0" anchor="ctr"/>
          <a:lstStyle/>
          <a:p>
            <a:pPr indent="0" marL="0">
              <a:buNone/>
            </a:pPr>
            <a:r>
              <a:rPr lang="en-US" sz="2000" b="1" dirty="0">
                <a:solidFill>
                  <a:schemeClr val="tx1"/>
                </a:solidFill>
              </a:rPr>
              <a:t>Volume</a:t>
            </a:r>
            <a:endParaRPr lang="en-US" sz="2000" dirty="0"/>
          </a:p>
        </p:txBody>
      </p:sp>
      <p:sp>
        <p:nvSpPr>
          <p:cNvPr id="9" name="Text 6"/>
          <p:cNvSpPr txBox="1"/>
          <p:nvPr/>
        </p:nvSpPr>
        <p:spPr>
          <a:xfrm>
            <a:off x="640080" y="2377440"/>
            <a:ext cx="2286000" cy="365760"/>
          </a:xfrm>
          <a:prstGeom prst="rect">
            <a:avLst/>
          </a:prstGeom>
          <a:noFill/>
          <a:ln/>
        </p:spPr>
        <p:txBody>
          <a:bodyPr wrap="square" lIns="0" tIns="0" rIns="0" bIns="0" rtlCol="0" anchor="ctr"/>
          <a:lstStyle/>
          <a:p>
            <a:pPr indent="0" marL="0">
              <a:buNone/>
            </a:pPr>
            <a:r>
              <a:rPr lang="en-US" sz="1400" b="1" dirty="0">
                <a:solidFill>
                  <a:schemeClr val="accent4"/>
                </a:solidFill>
              </a:rPr>
              <a:t>Spark Core + Spark SQL</a:t>
            </a:r>
            <a:endParaRPr lang="en-US" sz="1400" dirty="0"/>
          </a:p>
        </p:txBody>
      </p:sp>
      <p:sp>
        <p:nvSpPr>
          <p:cNvPr id="10" name="Text 7"/>
          <p:cNvSpPr txBox="1"/>
          <p:nvPr/>
        </p:nvSpPr>
        <p:spPr>
          <a:xfrm>
            <a:off x="640080" y="2834640"/>
            <a:ext cx="2286000" cy="1645920"/>
          </a:xfrm>
          <a:prstGeom prst="rect">
            <a:avLst/>
          </a:prstGeom>
          <a:noFill/>
          <a:ln/>
        </p:spPr>
        <p:txBody>
          <a:bodyPr wrap="square" lIns="0" tIns="0" rIns="0" bIns="0" rtlCol="0" anchor="t"/>
          <a:lstStyle/>
          <a:p>
            <a:pPr indent="0" marL="0">
              <a:buNone/>
            </a:pPr>
            <a:r>
              <a:rPr lang="en-US" sz="1400" dirty="0">
                <a:solidFill>
                  <a:schemeClr val="tx1"/>
                </a:solidFill>
              </a:rPr>
              <a:t>Data dipartisi dan diproses paralel di ratusan node; scale-out dengan menambah worker.</a:t>
            </a:r>
            <a:endParaRPr lang="en-US" sz="1400" dirty="0"/>
          </a:p>
        </p:txBody>
      </p:sp>
      <p:sp>
        <p:nvSpPr>
          <p:cNvPr id="11" name="Kartu"/>
          <p:cNvSpPr/>
          <p:nvPr/>
        </p:nvSpPr>
        <p:spPr>
          <a:xfrm>
            <a:off x="3291840" y="1371600"/>
            <a:ext cx="2651760" cy="320040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Lingkaran"/>
          <p:cNvSpPr/>
          <p:nvPr/>
        </p:nvSpPr>
        <p:spPr>
          <a:xfrm>
            <a:off x="3474720" y="1554480"/>
            <a:ext cx="640080" cy="640080"/>
          </a:xfrm>
          <a:prstGeom prst="ellipse">
            <a:avLst/>
          </a:prstGeom>
          <a:solidFill>
            <a:schemeClr val="accent1"/>
          </a:solidFill>
          <a:ln w="12700">
            <a:solidFill>
              <a:schemeClr val="accent1"/>
            </a:solidFill>
            <a:prstDash val="solid"/>
          </a:ln>
        </p:spPr>
      </p:sp>
      <p:sp>
        <p:nvSpPr>
          <p:cNvPr id="13" name="Text 10"/>
          <p:cNvSpPr txBox="1"/>
          <p:nvPr/>
        </p:nvSpPr>
        <p:spPr>
          <a:xfrm>
            <a:off x="3474720" y="15544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V</a:t>
            </a:r>
            <a:endParaRPr lang="en-US" sz="2400" dirty="0"/>
          </a:p>
        </p:txBody>
      </p:sp>
      <p:sp>
        <p:nvSpPr>
          <p:cNvPr id="14" name="Text 11"/>
          <p:cNvSpPr txBox="1"/>
          <p:nvPr/>
        </p:nvSpPr>
        <p:spPr>
          <a:xfrm>
            <a:off x="4251960" y="1554480"/>
            <a:ext cx="1600200" cy="640080"/>
          </a:xfrm>
          <a:prstGeom prst="rect">
            <a:avLst/>
          </a:prstGeom>
          <a:noFill/>
          <a:ln/>
        </p:spPr>
        <p:txBody>
          <a:bodyPr wrap="square" lIns="0" tIns="0" rIns="0" bIns="0" rtlCol="0" anchor="ctr"/>
          <a:lstStyle/>
          <a:p>
            <a:pPr indent="0" marL="0">
              <a:buNone/>
            </a:pPr>
            <a:r>
              <a:rPr lang="en-US" sz="2000" b="1" dirty="0">
                <a:solidFill>
                  <a:schemeClr val="tx1"/>
                </a:solidFill>
              </a:rPr>
              <a:t>Velocity</a:t>
            </a:r>
            <a:endParaRPr lang="en-US" sz="2000" dirty="0"/>
          </a:p>
        </p:txBody>
      </p:sp>
      <p:sp>
        <p:nvSpPr>
          <p:cNvPr id="15" name="Text 12"/>
          <p:cNvSpPr txBox="1"/>
          <p:nvPr/>
        </p:nvSpPr>
        <p:spPr>
          <a:xfrm>
            <a:off x="3474720" y="2377440"/>
            <a:ext cx="2286000" cy="365760"/>
          </a:xfrm>
          <a:prstGeom prst="rect">
            <a:avLst/>
          </a:prstGeom>
          <a:noFill/>
          <a:ln/>
        </p:spPr>
        <p:txBody>
          <a:bodyPr wrap="square" lIns="0" tIns="0" rIns="0" bIns="0" rtlCol="0" anchor="ctr"/>
          <a:lstStyle/>
          <a:p>
            <a:pPr indent="0" marL="0">
              <a:buNone/>
            </a:pPr>
            <a:r>
              <a:rPr lang="en-US" sz="1400" b="1" dirty="0">
                <a:solidFill>
                  <a:schemeClr val="accent1"/>
                </a:solidFill>
              </a:rPr>
              <a:t>Structured Streaming</a:t>
            </a:r>
            <a:endParaRPr lang="en-US" sz="1400" dirty="0"/>
          </a:p>
        </p:txBody>
      </p:sp>
      <p:sp>
        <p:nvSpPr>
          <p:cNvPr id="16" name="Text 13"/>
          <p:cNvSpPr txBox="1"/>
          <p:nvPr/>
        </p:nvSpPr>
        <p:spPr>
          <a:xfrm>
            <a:off x="3474720" y="2834640"/>
            <a:ext cx="2286000" cy="1645920"/>
          </a:xfrm>
          <a:prstGeom prst="rect">
            <a:avLst/>
          </a:prstGeom>
          <a:noFill/>
          <a:ln/>
        </p:spPr>
        <p:txBody>
          <a:bodyPr wrap="square" lIns="0" tIns="0" rIns="0" bIns="0" rtlCol="0" anchor="t"/>
          <a:lstStyle/>
          <a:p>
            <a:pPr indent="0" marL="0">
              <a:buNone/>
            </a:pPr>
            <a:r>
              <a:rPr lang="en-US" sz="1400" dirty="0">
                <a:solidFill>
                  <a:schemeClr val="tx1"/>
                </a:solidFill>
              </a:rPr>
              <a:t>Data real-time dari Kafka dll. diproses mikro-batch dengan API DataFrame yang sama dengan batch.</a:t>
            </a:r>
            <a:endParaRPr lang="en-US" sz="1400" dirty="0"/>
          </a:p>
        </p:txBody>
      </p:sp>
      <p:sp>
        <p:nvSpPr>
          <p:cNvPr id="17" name="Kartu"/>
          <p:cNvSpPr/>
          <p:nvPr/>
        </p:nvSpPr>
        <p:spPr>
          <a:xfrm>
            <a:off x="6126480" y="1371600"/>
            <a:ext cx="2651760" cy="320040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Lingkaran"/>
          <p:cNvSpPr/>
          <p:nvPr/>
        </p:nvSpPr>
        <p:spPr>
          <a:xfrm>
            <a:off x="6309360" y="1554480"/>
            <a:ext cx="640080" cy="640080"/>
          </a:xfrm>
          <a:prstGeom prst="ellipse">
            <a:avLst/>
          </a:prstGeom>
          <a:solidFill>
            <a:schemeClr val="accent2"/>
          </a:solidFill>
          <a:ln w="12700">
            <a:solidFill>
              <a:schemeClr val="accent2"/>
            </a:solidFill>
            <a:prstDash val="solid"/>
          </a:ln>
        </p:spPr>
      </p:sp>
      <p:sp>
        <p:nvSpPr>
          <p:cNvPr id="19" name="Text 16"/>
          <p:cNvSpPr txBox="1"/>
          <p:nvPr/>
        </p:nvSpPr>
        <p:spPr>
          <a:xfrm>
            <a:off x="6309360" y="15544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V</a:t>
            </a:r>
            <a:endParaRPr lang="en-US" sz="2400" dirty="0"/>
          </a:p>
        </p:txBody>
      </p:sp>
      <p:sp>
        <p:nvSpPr>
          <p:cNvPr id="20" name="Text 17"/>
          <p:cNvSpPr txBox="1"/>
          <p:nvPr/>
        </p:nvSpPr>
        <p:spPr>
          <a:xfrm>
            <a:off x="7086600" y="1554480"/>
            <a:ext cx="1600200" cy="640080"/>
          </a:xfrm>
          <a:prstGeom prst="rect">
            <a:avLst/>
          </a:prstGeom>
          <a:noFill/>
          <a:ln/>
        </p:spPr>
        <p:txBody>
          <a:bodyPr wrap="square" lIns="0" tIns="0" rIns="0" bIns="0" rtlCol="0" anchor="ctr"/>
          <a:lstStyle/>
          <a:p>
            <a:pPr indent="0" marL="0">
              <a:buNone/>
            </a:pPr>
            <a:r>
              <a:rPr lang="en-US" sz="2000" b="1" dirty="0">
                <a:solidFill>
                  <a:schemeClr val="tx1"/>
                </a:solidFill>
              </a:rPr>
              <a:t>Variety</a:t>
            </a:r>
            <a:endParaRPr lang="en-US" sz="2000" dirty="0"/>
          </a:p>
        </p:txBody>
      </p:sp>
      <p:sp>
        <p:nvSpPr>
          <p:cNvPr id="21" name="Text 18"/>
          <p:cNvSpPr txBox="1"/>
          <p:nvPr/>
        </p:nvSpPr>
        <p:spPr>
          <a:xfrm>
            <a:off x="6309360" y="2377440"/>
            <a:ext cx="2286000" cy="365760"/>
          </a:xfrm>
          <a:prstGeom prst="rect">
            <a:avLst/>
          </a:prstGeom>
          <a:noFill/>
          <a:ln/>
        </p:spPr>
        <p:txBody>
          <a:bodyPr wrap="square" lIns="0" tIns="0" rIns="0" bIns="0" rtlCol="0" anchor="ctr"/>
          <a:lstStyle/>
          <a:p>
            <a:pPr indent="0" marL="0">
              <a:buNone/>
            </a:pPr>
            <a:r>
              <a:rPr lang="en-US" sz="1400" b="1" dirty="0">
                <a:solidFill>
                  <a:schemeClr val="accent2"/>
                </a:solidFill>
              </a:rPr>
              <a:t>Data Source API + MLlib</a:t>
            </a:r>
            <a:endParaRPr lang="en-US" sz="1400" dirty="0"/>
          </a:p>
        </p:txBody>
      </p:sp>
      <p:sp>
        <p:nvSpPr>
          <p:cNvPr id="22" name="Text 19"/>
          <p:cNvSpPr txBox="1"/>
          <p:nvPr/>
        </p:nvSpPr>
        <p:spPr>
          <a:xfrm>
            <a:off x="6309360" y="2834640"/>
            <a:ext cx="2286000" cy="1645920"/>
          </a:xfrm>
          <a:prstGeom prst="rect">
            <a:avLst/>
          </a:prstGeom>
          <a:noFill/>
          <a:ln/>
        </p:spPr>
        <p:txBody>
          <a:bodyPr wrap="square" lIns="0" tIns="0" rIns="0" bIns="0" rtlCol="0" anchor="t"/>
          <a:lstStyle/>
          <a:p>
            <a:pPr indent="0" marL="0">
              <a:buNone/>
            </a:pPr>
            <a:r>
              <a:rPr lang="en-US" sz="1400" dirty="0">
                <a:solidFill>
                  <a:schemeClr val="tx1"/>
                </a:solidFill>
              </a:rPr>
              <a:t>CSV, JSON, Parquet, JDBC, Kafka dalam satu DataFrame; MLlib untuk analitik pada beragam data.</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Integrasi dalam Satu Pipeline</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PERTANYAAN 5 · EKOSISTEM TERPADU</a:t>
            </a:r>
            <a:endParaRPr lang="en-US" sz="1200" dirty="0"/>
          </a:p>
        </p:txBody>
      </p:sp>
      <p:sp>
        <p:nvSpPr>
          <p:cNvPr id="5" name="Kotak"/>
          <p:cNvSpPr/>
          <p:nvPr/>
        </p:nvSpPr>
        <p:spPr>
          <a:xfrm>
            <a:off x="457200" y="1417320"/>
            <a:ext cx="1463040" cy="914400"/>
          </a:xfrm>
          <a:prstGeom prst="roundRect">
            <a:avLst>
              <a:gd name="adj" fmla="val 8000"/>
            </a:avLst>
          </a:prstGeom>
          <a:solidFill>
            <a:schemeClr val="tx2"/>
          </a:solidFill>
          <a:ln w="12700">
            <a:solidFill>
              <a:schemeClr val="tx2"/>
            </a:solidFill>
            <a:prstDash val="solid"/>
          </a:ln>
        </p:spPr>
      </p:sp>
      <p:sp>
        <p:nvSpPr>
          <p:cNvPr id="6" name="Text 3"/>
          <p:cNvSpPr txBox="1"/>
          <p:nvPr/>
        </p:nvSpPr>
        <p:spPr>
          <a:xfrm>
            <a:off x="457200" y="1417320"/>
            <a:ext cx="1463040" cy="914400"/>
          </a:xfrm>
          <a:prstGeom prst="rect">
            <a:avLst/>
          </a:prstGeom>
          <a:noFill/>
          <a:ln/>
        </p:spPr>
        <p:txBody>
          <a:bodyPr wrap="square" lIns="508" tIns="508" rIns="508" bIns="508" rtlCol="0" anchor="ctr"/>
          <a:lstStyle/>
          <a:p>
            <a:pPr algn="ctr" indent="0" marL="0">
              <a:buNone/>
            </a:pPr>
            <a:r>
              <a:rPr lang="en-US" sz="1200" b="1" dirty="0">
                <a:solidFill>
                  <a:schemeClr val="bg1"/>
                </a:solidFill>
              </a:rPr>
              <a:t>Sumber</a:t>
            </a:r>
            <a:endParaRPr lang="en-US" sz="1200" dirty="0"/>
          </a:p>
          <a:p>
            <a:pPr algn="ctr" indent="0" marL="0">
              <a:buNone/>
            </a:pPr>
            <a:r>
              <a:rPr lang="en-US" sz="1200" b="1" dirty="0">
                <a:solidFill>
                  <a:schemeClr val="bg1"/>
                </a:solidFill>
              </a:rPr>
              <a:t>Kafka · file · DB</a:t>
            </a:r>
            <a:endParaRPr lang="en-US" sz="1200" dirty="0"/>
          </a:p>
        </p:txBody>
      </p:sp>
      <p:sp>
        <p:nvSpPr>
          <p:cNvPr id="7" name="Shape 4"/>
          <p:cNvSpPr/>
          <p:nvPr/>
        </p:nvSpPr>
        <p:spPr>
          <a:xfrm>
            <a:off x="1920240" y="1874520"/>
            <a:ext cx="228600" cy="0"/>
          </a:xfrm>
          <a:prstGeom prst="line">
            <a:avLst/>
          </a:prstGeom>
          <a:noFill/>
          <a:ln w="22225">
            <a:solidFill>
              <a:schemeClr val="tx2"/>
            </a:solidFill>
            <a:prstDash val="solid"/>
            <a:tailEnd type="triangle"/>
          </a:ln>
        </p:spPr>
      </p:sp>
      <p:sp>
        <p:nvSpPr>
          <p:cNvPr id="8" name="Kotak"/>
          <p:cNvSpPr/>
          <p:nvPr/>
        </p:nvSpPr>
        <p:spPr>
          <a:xfrm>
            <a:off x="2148840" y="1417320"/>
            <a:ext cx="1463040" cy="914400"/>
          </a:xfrm>
          <a:prstGeom prst="roundRect">
            <a:avLst>
              <a:gd name="adj" fmla="val 8000"/>
            </a:avLst>
          </a:prstGeom>
          <a:solidFill>
            <a:schemeClr val="accent1"/>
          </a:solidFill>
          <a:ln w="12700">
            <a:solidFill>
              <a:schemeClr val="accent1"/>
            </a:solidFill>
            <a:prstDash val="solid"/>
          </a:ln>
        </p:spPr>
      </p:sp>
      <p:sp>
        <p:nvSpPr>
          <p:cNvPr id="9" name="Text 6"/>
          <p:cNvSpPr txBox="1"/>
          <p:nvPr/>
        </p:nvSpPr>
        <p:spPr>
          <a:xfrm>
            <a:off x="2148840" y="1417320"/>
            <a:ext cx="1463040" cy="914400"/>
          </a:xfrm>
          <a:prstGeom prst="rect">
            <a:avLst/>
          </a:prstGeom>
          <a:noFill/>
          <a:ln/>
        </p:spPr>
        <p:txBody>
          <a:bodyPr wrap="square" lIns="508" tIns="508" rIns="508" bIns="508" rtlCol="0" anchor="ctr"/>
          <a:lstStyle/>
          <a:p>
            <a:pPr algn="ctr" indent="0" marL="0">
              <a:buNone/>
            </a:pPr>
            <a:r>
              <a:rPr lang="en-US" sz="1200" b="1" dirty="0">
                <a:solidFill>
                  <a:schemeClr val="bg1"/>
                </a:solidFill>
              </a:rPr>
              <a:t>Structured</a:t>
            </a:r>
            <a:endParaRPr lang="en-US" sz="1200" dirty="0"/>
          </a:p>
          <a:p>
            <a:pPr algn="ctr" indent="0" marL="0">
              <a:buNone/>
            </a:pPr>
            <a:r>
              <a:rPr lang="en-US" sz="1200" b="1" dirty="0">
                <a:solidFill>
                  <a:schemeClr val="bg1"/>
                </a:solidFill>
              </a:rPr>
              <a:t>Streaming</a:t>
            </a:r>
            <a:endParaRPr lang="en-US" sz="1200" dirty="0"/>
          </a:p>
        </p:txBody>
      </p:sp>
      <p:sp>
        <p:nvSpPr>
          <p:cNvPr id="10" name="Shape 7"/>
          <p:cNvSpPr/>
          <p:nvPr/>
        </p:nvSpPr>
        <p:spPr>
          <a:xfrm>
            <a:off x="3611880" y="1874520"/>
            <a:ext cx="228600" cy="0"/>
          </a:xfrm>
          <a:prstGeom prst="line">
            <a:avLst/>
          </a:prstGeom>
          <a:noFill/>
          <a:ln w="22225">
            <a:solidFill>
              <a:schemeClr val="tx2"/>
            </a:solidFill>
            <a:prstDash val="solid"/>
            <a:tailEnd type="triangle"/>
          </a:ln>
        </p:spPr>
      </p:sp>
      <p:sp>
        <p:nvSpPr>
          <p:cNvPr id="11" name="Kotak"/>
          <p:cNvSpPr/>
          <p:nvPr/>
        </p:nvSpPr>
        <p:spPr>
          <a:xfrm>
            <a:off x="3840480" y="1417320"/>
            <a:ext cx="1463040" cy="914400"/>
          </a:xfrm>
          <a:prstGeom prst="roundRect">
            <a:avLst>
              <a:gd name="adj" fmla="val 8000"/>
            </a:avLst>
          </a:prstGeom>
          <a:solidFill>
            <a:schemeClr val="accent2"/>
          </a:solidFill>
          <a:ln w="12700">
            <a:solidFill>
              <a:schemeClr val="accent2"/>
            </a:solidFill>
            <a:prstDash val="solid"/>
          </a:ln>
        </p:spPr>
      </p:sp>
      <p:sp>
        <p:nvSpPr>
          <p:cNvPr id="12" name="Text 9"/>
          <p:cNvSpPr txBox="1"/>
          <p:nvPr/>
        </p:nvSpPr>
        <p:spPr>
          <a:xfrm>
            <a:off x="3840480" y="1417320"/>
            <a:ext cx="1463040" cy="914400"/>
          </a:xfrm>
          <a:prstGeom prst="rect">
            <a:avLst/>
          </a:prstGeom>
          <a:noFill/>
          <a:ln/>
        </p:spPr>
        <p:txBody>
          <a:bodyPr wrap="square" lIns="508" tIns="508" rIns="508" bIns="508" rtlCol="0" anchor="ctr"/>
          <a:lstStyle/>
          <a:p>
            <a:pPr algn="ctr" indent="0" marL="0">
              <a:buNone/>
            </a:pPr>
            <a:r>
              <a:rPr lang="en-US" sz="1200" b="1" dirty="0">
                <a:solidFill>
                  <a:schemeClr val="bg1"/>
                </a:solidFill>
              </a:rPr>
              <a:t>Spark SQL</a:t>
            </a:r>
            <a:endParaRPr lang="en-US" sz="1200" dirty="0"/>
          </a:p>
          <a:p>
            <a:pPr algn="ctr" indent="0" marL="0">
              <a:buNone/>
            </a:pPr>
            <a:r>
              <a:rPr lang="en-US" sz="1200" b="1" dirty="0">
                <a:solidFill>
                  <a:schemeClr val="bg1"/>
                </a:solidFill>
              </a:rPr>
              <a:t>bersih &amp; join</a:t>
            </a:r>
            <a:endParaRPr lang="en-US" sz="1200" dirty="0"/>
          </a:p>
        </p:txBody>
      </p:sp>
      <p:sp>
        <p:nvSpPr>
          <p:cNvPr id="13" name="Shape 10"/>
          <p:cNvSpPr/>
          <p:nvPr/>
        </p:nvSpPr>
        <p:spPr>
          <a:xfrm>
            <a:off x="5303520" y="1874520"/>
            <a:ext cx="228600" cy="0"/>
          </a:xfrm>
          <a:prstGeom prst="line">
            <a:avLst/>
          </a:prstGeom>
          <a:noFill/>
          <a:ln w="22225">
            <a:solidFill>
              <a:schemeClr val="tx2"/>
            </a:solidFill>
            <a:prstDash val="solid"/>
            <a:tailEnd type="triangle"/>
          </a:ln>
        </p:spPr>
      </p:sp>
      <p:sp>
        <p:nvSpPr>
          <p:cNvPr id="14" name="Kotak"/>
          <p:cNvSpPr/>
          <p:nvPr/>
        </p:nvSpPr>
        <p:spPr>
          <a:xfrm>
            <a:off x="5532120" y="1417320"/>
            <a:ext cx="1463040" cy="914400"/>
          </a:xfrm>
          <a:prstGeom prst="roundRect">
            <a:avLst>
              <a:gd name="adj" fmla="val 8000"/>
            </a:avLst>
          </a:prstGeom>
          <a:solidFill>
            <a:schemeClr val="accent5"/>
          </a:solidFill>
          <a:ln w="12700">
            <a:solidFill>
              <a:schemeClr val="accent5"/>
            </a:solidFill>
            <a:prstDash val="solid"/>
          </a:ln>
        </p:spPr>
      </p:sp>
      <p:sp>
        <p:nvSpPr>
          <p:cNvPr id="15" name="Text 12"/>
          <p:cNvSpPr txBox="1"/>
          <p:nvPr/>
        </p:nvSpPr>
        <p:spPr>
          <a:xfrm>
            <a:off x="5532120" y="1417320"/>
            <a:ext cx="1463040" cy="914400"/>
          </a:xfrm>
          <a:prstGeom prst="rect">
            <a:avLst/>
          </a:prstGeom>
          <a:noFill/>
          <a:ln/>
        </p:spPr>
        <p:txBody>
          <a:bodyPr wrap="square" lIns="508" tIns="508" rIns="508" bIns="508" rtlCol="0" anchor="ctr"/>
          <a:lstStyle/>
          <a:p>
            <a:pPr algn="ctr" indent="0" marL="0">
              <a:buNone/>
            </a:pPr>
            <a:r>
              <a:rPr lang="en-US" sz="1200" b="1" dirty="0">
                <a:solidFill>
                  <a:schemeClr val="bg1"/>
                </a:solidFill>
              </a:rPr>
              <a:t>MLlib</a:t>
            </a:r>
            <a:endParaRPr lang="en-US" sz="1200" dirty="0"/>
          </a:p>
          <a:p>
            <a:pPr algn="ctr" indent="0" marL="0">
              <a:buNone/>
            </a:pPr>
            <a:r>
              <a:rPr lang="en-US" sz="1200" b="1" dirty="0">
                <a:solidFill>
                  <a:schemeClr val="bg1"/>
                </a:solidFill>
              </a:rPr>
              <a:t>latih &amp; prediksi</a:t>
            </a:r>
            <a:endParaRPr lang="en-US" sz="1200" dirty="0"/>
          </a:p>
        </p:txBody>
      </p:sp>
      <p:sp>
        <p:nvSpPr>
          <p:cNvPr id="16" name="Shape 13"/>
          <p:cNvSpPr/>
          <p:nvPr/>
        </p:nvSpPr>
        <p:spPr>
          <a:xfrm>
            <a:off x="6995160" y="1874520"/>
            <a:ext cx="228600" cy="0"/>
          </a:xfrm>
          <a:prstGeom prst="line">
            <a:avLst/>
          </a:prstGeom>
          <a:noFill/>
          <a:ln w="22225">
            <a:solidFill>
              <a:schemeClr val="tx2"/>
            </a:solidFill>
            <a:prstDash val="solid"/>
            <a:tailEnd type="triangle"/>
          </a:ln>
        </p:spPr>
      </p:sp>
      <p:sp>
        <p:nvSpPr>
          <p:cNvPr id="17" name="Kotak"/>
          <p:cNvSpPr/>
          <p:nvPr/>
        </p:nvSpPr>
        <p:spPr>
          <a:xfrm>
            <a:off x="7223760" y="1417320"/>
            <a:ext cx="1463040" cy="914400"/>
          </a:xfrm>
          <a:prstGeom prst="roundRect">
            <a:avLst>
              <a:gd name="adj" fmla="val 8000"/>
            </a:avLst>
          </a:prstGeom>
          <a:solidFill>
            <a:schemeClr val="tx2"/>
          </a:solidFill>
          <a:ln w="12700">
            <a:solidFill>
              <a:schemeClr val="tx2"/>
            </a:solidFill>
            <a:prstDash val="solid"/>
          </a:ln>
        </p:spPr>
      </p:sp>
      <p:sp>
        <p:nvSpPr>
          <p:cNvPr id="18" name="Text 15"/>
          <p:cNvSpPr txBox="1"/>
          <p:nvPr/>
        </p:nvSpPr>
        <p:spPr>
          <a:xfrm>
            <a:off x="7223760" y="1417320"/>
            <a:ext cx="1463040" cy="914400"/>
          </a:xfrm>
          <a:prstGeom prst="rect">
            <a:avLst/>
          </a:prstGeom>
          <a:noFill/>
          <a:ln/>
        </p:spPr>
        <p:txBody>
          <a:bodyPr wrap="square" lIns="508" tIns="508" rIns="508" bIns="508" rtlCol="0" anchor="ctr"/>
          <a:lstStyle/>
          <a:p>
            <a:pPr algn="ctr" indent="0" marL="0">
              <a:buNone/>
            </a:pPr>
            <a:r>
              <a:rPr lang="en-US" sz="1200" b="1" dirty="0">
                <a:solidFill>
                  <a:schemeClr val="bg1"/>
                </a:solidFill>
              </a:rPr>
              <a:t>Output</a:t>
            </a:r>
            <a:endParaRPr lang="en-US" sz="1200" dirty="0"/>
          </a:p>
          <a:p>
            <a:pPr algn="ctr" indent="0" marL="0">
              <a:buNone/>
            </a:pPr>
            <a:r>
              <a:rPr lang="en-US" sz="1200" b="1" dirty="0">
                <a:solidFill>
                  <a:schemeClr val="bg1"/>
                </a:solidFill>
              </a:rPr>
              <a:t>dashboard · Parquet</a:t>
            </a:r>
            <a:endParaRPr lang="en-US" sz="1200" dirty="0"/>
          </a:p>
        </p:txBody>
      </p:sp>
      <p:sp>
        <p:nvSpPr>
          <p:cNvPr id="19" name="Text 16"/>
          <p:cNvSpPr txBox="1"/>
          <p:nvPr/>
        </p:nvSpPr>
        <p:spPr>
          <a:xfrm>
            <a:off x="457200" y="2423160"/>
            <a:ext cx="8229600" cy="274320"/>
          </a:xfrm>
          <a:prstGeom prst="rect">
            <a:avLst/>
          </a:prstGeom>
          <a:noFill/>
          <a:ln/>
        </p:spPr>
        <p:txBody>
          <a:bodyPr wrap="square" lIns="0" tIns="0" rIns="0" bIns="0" rtlCol="0" anchor="ctr"/>
          <a:lstStyle/>
          <a:p>
            <a:pPr indent="0" marL="0">
              <a:buNone/>
            </a:pPr>
            <a:r>
              <a:rPr lang="en-US" sz="1200" i="1" dirty="0">
                <a:solidFill>
                  <a:schemeClr val="tx2"/>
                </a:solidFill>
              </a:rPr>
              <a:t>Semua tahap berbagi satu DataFrame API, satu Catalyst optimizer, dan satu klaster Spark</a:t>
            </a:r>
            <a:endParaRPr lang="en-US" sz="1200" dirty="0"/>
          </a:p>
        </p:txBody>
      </p:sp>
      <p:sp>
        <p:nvSpPr>
          <p:cNvPr id="20" name="Kartu"/>
          <p:cNvSpPr/>
          <p:nvPr/>
        </p:nvSpPr>
        <p:spPr>
          <a:xfrm>
            <a:off x="457200" y="2926080"/>
            <a:ext cx="26517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40080" y="3017520"/>
            <a:ext cx="2286000" cy="365760"/>
          </a:xfrm>
          <a:prstGeom prst="rect">
            <a:avLst/>
          </a:prstGeom>
          <a:noFill/>
          <a:ln/>
        </p:spPr>
        <p:txBody>
          <a:bodyPr wrap="square" lIns="0" tIns="0" rIns="0" bIns="0" rtlCol="0" anchor="ctr"/>
          <a:lstStyle/>
          <a:p>
            <a:pPr indent="0" marL="0">
              <a:buNone/>
            </a:pPr>
            <a:r>
              <a:rPr lang="en-US" sz="1600" b="1" dirty="0">
                <a:solidFill>
                  <a:schemeClr val="accent1"/>
                </a:solidFill>
              </a:rPr>
              <a:t>Satu API</a:t>
            </a:r>
            <a:endParaRPr lang="en-US" sz="1600" dirty="0"/>
          </a:p>
        </p:txBody>
      </p:sp>
      <p:sp>
        <p:nvSpPr>
          <p:cNvPr id="22" name="Text 19"/>
          <p:cNvSpPr txBox="1"/>
          <p:nvPr/>
        </p:nvSpPr>
        <p:spPr>
          <a:xfrm>
            <a:off x="640080" y="3429000"/>
            <a:ext cx="2286000" cy="1143000"/>
          </a:xfrm>
          <a:prstGeom prst="rect">
            <a:avLst/>
          </a:prstGeom>
          <a:noFill/>
          <a:ln/>
        </p:spPr>
        <p:txBody>
          <a:bodyPr wrap="square" lIns="0" tIns="0" rIns="0" bIns="0" rtlCol="0" anchor="t"/>
          <a:lstStyle/>
          <a:p>
            <a:pPr indent="0" marL="0">
              <a:buNone/>
            </a:pPr>
            <a:r>
              <a:rPr lang="en-US" sz="1300" dirty="0">
                <a:solidFill>
                  <a:schemeClr val="tx1"/>
                </a:solidFill>
              </a:rPr>
              <a:t>Batch, streaming, SQL, dan ML memakai DataFrame yang sama; kode batch bisa jadi streaming.</a:t>
            </a:r>
            <a:endParaRPr lang="en-US" sz="1300" dirty="0"/>
          </a:p>
        </p:txBody>
      </p:sp>
      <p:sp>
        <p:nvSpPr>
          <p:cNvPr id="23" name="Kartu"/>
          <p:cNvSpPr/>
          <p:nvPr/>
        </p:nvSpPr>
        <p:spPr>
          <a:xfrm>
            <a:off x="3291840" y="2926080"/>
            <a:ext cx="26517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3474720" y="3017520"/>
            <a:ext cx="2286000" cy="365760"/>
          </a:xfrm>
          <a:prstGeom prst="rect">
            <a:avLst/>
          </a:prstGeom>
          <a:noFill/>
          <a:ln/>
        </p:spPr>
        <p:txBody>
          <a:bodyPr wrap="square" lIns="0" tIns="0" rIns="0" bIns="0" rtlCol="0" anchor="ctr"/>
          <a:lstStyle/>
          <a:p>
            <a:pPr indent="0" marL="0">
              <a:buNone/>
            </a:pPr>
            <a:r>
              <a:rPr lang="en-US" sz="1600" b="1" dirty="0">
                <a:solidFill>
                  <a:schemeClr val="accent1"/>
                </a:solidFill>
              </a:rPr>
              <a:t>Tanpa pindah data</a:t>
            </a:r>
            <a:endParaRPr lang="en-US" sz="1600" dirty="0"/>
          </a:p>
        </p:txBody>
      </p:sp>
      <p:sp>
        <p:nvSpPr>
          <p:cNvPr id="25" name="Text 22"/>
          <p:cNvSpPr txBox="1"/>
          <p:nvPr/>
        </p:nvSpPr>
        <p:spPr>
          <a:xfrm>
            <a:off x="3474720" y="3429000"/>
            <a:ext cx="2286000" cy="1143000"/>
          </a:xfrm>
          <a:prstGeom prst="rect">
            <a:avLst/>
          </a:prstGeom>
          <a:noFill/>
          <a:ln/>
        </p:spPr>
        <p:txBody>
          <a:bodyPr wrap="square" lIns="0" tIns="0" rIns="0" bIns="0" rtlCol="0" anchor="t"/>
          <a:lstStyle/>
          <a:p>
            <a:pPr indent="0" marL="0">
              <a:buNone/>
            </a:pPr>
            <a:r>
              <a:rPr lang="en-US" sz="1300" dirty="0">
                <a:solidFill>
                  <a:schemeClr val="tx1"/>
                </a:solidFill>
              </a:rPr>
              <a:t>Tidak perlu ekspor/impor antar sistem terpisah, mengurangi latensi dan biaya operasional.</a:t>
            </a:r>
            <a:endParaRPr lang="en-US" sz="1300" dirty="0"/>
          </a:p>
        </p:txBody>
      </p:sp>
      <p:sp>
        <p:nvSpPr>
          <p:cNvPr id="26" name="Kartu"/>
          <p:cNvSpPr/>
          <p:nvPr/>
        </p:nvSpPr>
        <p:spPr>
          <a:xfrm>
            <a:off x="6126480" y="2926080"/>
            <a:ext cx="26517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6309360" y="3017520"/>
            <a:ext cx="2286000" cy="365760"/>
          </a:xfrm>
          <a:prstGeom prst="rect">
            <a:avLst/>
          </a:prstGeom>
          <a:noFill/>
          <a:ln/>
        </p:spPr>
        <p:txBody>
          <a:bodyPr wrap="square" lIns="0" tIns="0" rIns="0" bIns="0" rtlCol="0" anchor="ctr"/>
          <a:lstStyle/>
          <a:p>
            <a:pPr indent="0" marL="0">
              <a:buNone/>
            </a:pPr>
            <a:r>
              <a:rPr lang="en-US" sz="1600" b="1" dirty="0">
                <a:solidFill>
                  <a:schemeClr val="accent1"/>
                </a:solidFill>
              </a:rPr>
              <a:t>Optimasi utuh</a:t>
            </a:r>
            <a:endParaRPr lang="en-US" sz="1600" dirty="0"/>
          </a:p>
        </p:txBody>
      </p:sp>
      <p:sp>
        <p:nvSpPr>
          <p:cNvPr id="28" name="Text 25"/>
          <p:cNvSpPr txBox="1"/>
          <p:nvPr/>
        </p:nvSpPr>
        <p:spPr>
          <a:xfrm>
            <a:off x="6309360" y="3429000"/>
            <a:ext cx="2286000" cy="1143000"/>
          </a:xfrm>
          <a:prstGeom prst="rect">
            <a:avLst/>
          </a:prstGeom>
          <a:noFill/>
          <a:ln/>
        </p:spPr>
        <p:txBody>
          <a:bodyPr wrap="square" lIns="0" tIns="0" rIns="0" bIns="0" rtlCol="0" anchor="t"/>
          <a:lstStyle/>
          <a:p>
            <a:pPr indent="0" marL="0">
              <a:buNone/>
            </a:pPr>
            <a:r>
              <a:rPr lang="en-US" sz="1300" dirty="0">
                <a:solidFill>
                  <a:schemeClr val="tx1"/>
                </a:solidFill>
              </a:rPr>
              <a:t>Catalyst &amp; Tungsten mengoptimalkan seluruh alur, bukan per-alat.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Kesimpulan</a:t>
            </a:r>
            <a:endParaRPr lang="en-US" sz="3000" dirty="0"/>
          </a:p>
        </p:txBody>
      </p:sp>
      <p:sp>
        <p:nvSpPr>
          <p:cNvPr id="3" name="Text 1"/>
          <p:cNvSpPr txBox="1"/>
          <p:nvPr/>
        </p:nvSpPr>
        <p:spPr>
          <a:xfrm>
            <a:off x="45720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PENUTUP</a:t>
            </a:r>
            <a:endParaRPr lang="en-US" sz="1200" dirty="0"/>
          </a:p>
        </p:txBody>
      </p:sp>
      <p:sp>
        <p:nvSpPr>
          <p:cNvPr id="5" name="Lingkaran"/>
          <p:cNvSpPr/>
          <p:nvPr/>
        </p:nvSpPr>
        <p:spPr>
          <a:xfrm>
            <a:off x="457200" y="1399032"/>
            <a:ext cx="475488" cy="475488"/>
          </a:xfrm>
          <a:prstGeom prst="ellipse">
            <a:avLst/>
          </a:prstGeom>
          <a:solidFill>
            <a:schemeClr val="accent1"/>
          </a:solidFill>
          <a:ln w="12700">
            <a:solidFill>
              <a:schemeClr val="accent1"/>
            </a:solidFill>
            <a:prstDash val="solid"/>
          </a:ln>
        </p:spPr>
      </p:sp>
      <p:sp>
        <p:nvSpPr>
          <p:cNvPr id="6" name="Text 3"/>
          <p:cNvSpPr txBox="1"/>
          <p:nvPr/>
        </p:nvSpPr>
        <p:spPr>
          <a:xfrm>
            <a:off x="457200" y="1399032"/>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1143000" y="1371600"/>
            <a:ext cx="7498080" cy="548640"/>
          </a:xfrm>
          <a:prstGeom prst="rect">
            <a:avLst/>
          </a:prstGeom>
          <a:noFill/>
          <a:ln/>
        </p:spPr>
        <p:txBody>
          <a:bodyPr wrap="square" lIns="0" tIns="0" rIns="0" bIns="0" rtlCol="0" anchor="ctr"/>
          <a:lstStyle/>
          <a:p>
            <a:pPr indent="0" marL="0">
              <a:buNone/>
            </a:pPr>
            <a:r>
              <a:rPr lang="en-US" sz="1600" dirty="0">
                <a:solidFill>
                  <a:schemeClr val="bg1"/>
                </a:solidFill>
              </a:rPr>
              <a:t>Spark mengatasi bottleneck disk I/O MapReduce lewat pemrosesan in-memory</a:t>
            </a:r>
            <a:endParaRPr lang="en-US" sz="1600" dirty="0"/>
          </a:p>
        </p:txBody>
      </p:sp>
      <p:sp>
        <p:nvSpPr>
          <p:cNvPr id="8" name="Lingkaran"/>
          <p:cNvSpPr/>
          <p:nvPr/>
        </p:nvSpPr>
        <p:spPr>
          <a:xfrm>
            <a:off x="457200" y="2039112"/>
            <a:ext cx="475488" cy="475488"/>
          </a:xfrm>
          <a:prstGeom prst="ellipse">
            <a:avLst/>
          </a:prstGeom>
          <a:solidFill>
            <a:schemeClr val="accent1"/>
          </a:solidFill>
          <a:ln w="12700">
            <a:solidFill>
              <a:schemeClr val="accent1"/>
            </a:solidFill>
            <a:prstDash val="solid"/>
          </a:ln>
        </p:spPr>
      </p:sp>
      <p:sp>
        <p:nvSpPr>
          <p:cNvPr id="9" name="Text 6"/>
          <p:cNvSpPr txBox="1"/>
          <p:nvPr/>
        </p:nvSpPr>
        <p:spPr>
          <a:xfrm>
            <a:off x="457200" y="2039112"/>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7"/>
          <p:cNvSpPr txBox="1"/>
          <p:nvPr/>
        </p:nvSpPr>
        <p:spPr>
          <a:xfrm>
            <a:off x="1143000" y="2011680"/>
            <a:ext cx="7498080" cy="548640"/>
          </a:xfrm>
          <a:prstGeom prst="rect">
            <a:avLst/>
          </a:prstGeom>
          <a:noFill/>
          <a:ln/>
        </p:spPr>
        <p:txBody>
          <a:bodyPr wrap="square" lIns="0" tIns="0" rIns="0" bIns="0" rtlCol="0" anchor="ctr"/>
          <a:lstStyle/>
          <a:p>
            <a:pPr indent="0" marL="0">
              <a:buNone/>
            </a:pPr>
            <a:r>
              <a:rPr lang="en-US" sz="1600" dirty="0">
                <a:solidFill>
                  <a:schemeClr val="bg1"/>
                </a:solidFill>
              </a:rPr>
              <a:t>Transformation lazy + Action eager → DAG dioptimalkan sebelum eksekusi</a:t>
            </a:r>
            <a:endParaRPr lang="en-US" sz="1600" dirty="0"/>
          </a:p>
        </p:txBody>
      </p:sp>
      <p:sp>
        <p:nvSpPr>
          <p:cNvPr id="11" name="Lingkaran"/>
          <p:cNvSpPr/>
          <p:nvPr/>
        </p:nvSpPr>
        <p:spPr>
          <a:xfrm>
            <a:off x="457200" y="2679192"/>
            <a:ext cx="475488" cy="475488"/>
          </a:xfrm>
          <a:prstGeom prst="ellipse">
            <a:avLst/>
          </a:prstGeom>
          <a:solidFill>
            <a:schemeClr val="accent1"/>
          </a:solidFill>
          <a:ln w="12700">
            <a:solidFill>
              <a:schemeClr val="accent1"/>
            </a:solidFill>
            <a:prstDash val="solid"/>
          </a:ln>
        </p:spPr>
      </p:sp>
      <p:sp>
        <p:nvSpPr>
          <p:cNvPr id="12" name="Text 9"/>
          <p:cNvSpPr txBox="1"/>
          <p:nvPr/>
        </p:nvSpPr>
        <p:spPr>
          <a:xfrm>
            <a:off x="457200" y="2679192"/>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0"/>
          <p:cNvSpPr txBox="1"/>
          <p:nvPr/>
        </p:nvSpPr>
        <p:spPr>
          <a:xfrm>
            <a:off x="1143000" y="2651760"/>
            <a:ext cx="7498080" cy="548640"/>
          </a:xfrm>
          <a:prstGeom prst="rect">
            <a:avLst/>
          </a:prstGeom>
          <a:noFill/>
          <a:ln/>
        </p:spPr>
        <p:txBody>
          <a:bodyPr wrap="square" lIns="0" tIns="0" rIns="0" bIns="0" rtlCol="0" anchor="ctr"/>
          <a:lstStyle/>
          <a:p>
            <a:pPr indent="0" marL="0">
              <a:buNone/>
            </a:pPr>
            <a:r>
              <a:rPr lang="en-US" sz="1600" dirty="0">
                <a:solidFill>
                  <a:schemeClr val="bg1"/>
                </a:solidFill>
              </a:rPr>
              <a:t>DataFrame + Catalyst jauh lebih cepat; RDD untuk data tanpa skema &amp; kontrol low-level</a:t>
            </a:r>
            <a:endParaRPr lang="en-US" sz="1600" dirty="0"/>
          </a:p>
        </p:txBody>
      </p:sp>
      <p:sp>
        <p:nvSpPr>
          <p:cNvPr id="14" name="Lingkaran"/>
          <p:cNvSpPr/>
          <p:nvPr/>
        </p:nvSpPr>
        <p:spPr>
          <a:xfrm>
            <a:off x="457200" y="3319272"/>
            <a:ext cx="475488" cy="475488"/>
          </a:xfrm>
          <a:prstGeom prst="ellipse">
            <a:avLst/>
          </a:prstGeom>
          <a:solidFill>
            <a:schemeClr val="accent1"/>
          </a:solidFill>
          <a:ln w="12700">
            <a:solidFill>
              <a:schemeClr val="accent1"/>
            </a:solidFill>
            <a:prstDash val="solid"/>
          </a:ln>
        </p:spPr>
      </p:sp>
      <p:sp>
        <p:nvSpPr>
          <p:cNvPr id="15" name="Text 12"/>
          <p:cNvSpPr txBox="1"/>
          <p:nvPr/>
        </p:nvSpPr>
        <p:spPr>
          <a:xfrm>
            <a:off x="457200" y="3319272"/>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Text 13"/>
          <p:cNvSpPr txBox="1"/>
          <p:nvPr/>
        </p:nvSpPr>
        <p:spPr>
          <a:xfrm>
            <a:off x="1143000" y="3291840"/>
            <a:ext cx="7498080" cy="548640"/>
          </a:xfrm>
          <a:prstGeom prst="rect">
            <a:avLst/>
          </a:prstGeom>
          <a:noFill/>
          <a:ln/>
        </p:spPr>
        <p:txBody>
          <a:bodyPr wrap="square" lIns="0" tIns="0" rIns="0" bIns="0" rtlCol="0" anchor="ctr"/>
          <a:lstStyle/>
          <a:p>
            <a:pPr indent="0" marL="0">
              <a:buNone/>
            </a:pPr>
            <a:r>
              <a:rPr lang="en-US" sz="1600" dirty="0">
                <a:solidFill>
                  <a:schemeClr val="bg1"/>
                </a:solidFill>
              </a:rPr>
              <a:t>Driver, Cluster Manager, Worker, Executor berkolaborasi memproses data secara paralel</a:t>
            </a:r>
            <a:endParaRPr lang="en-US" sz="1600" dirty="0"/>
          </a:p>
        </p:txBody>
      </p:sp>
      <p:sp>
        <p:nvSpPr>
          <p:cNvPr id="17" name="Lingkaran"/>
          <p:cNvSpPr/>
          <p:nvPr/>
        </p:nvSpPr>
        <p:spPr>
          <a:xfrm>
            <a:off x="457200" y="3959352"/>
            <a:ext cx="475488" cy="475488"/>
          </a:xfrm>
          <a:prstGeom prst="ellipse">
            <a:avLst/>
          </a:prstGeom>
          <a:solidFill>
            <a:schemeClr val="accent1"/>
          </a:solidFill>
          <a:ln w="12700">
            <a:solidFill>
              <a:schemeClr val="accent1"/>
            </a:solidFill>
            <a:prstDash val="solid"/>
          </a:ln>
        </p:spPr>
      </p:sp>
      <p:sp>
        <p:nvSpPr>
          <p:cNvPr id="18" name="Text 15"/>
          <p:cNvSpPr txBox="1"/>
          <p:nvPr/>
        </p:nvSpPr>
        <p:spPr>
          <a:xfrm>
            <a:off x="457200" y="3959352"/>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9" name="Text 16"/>
          <p:cNvSpPr txBox="1"/>
          <p:nvPr/>
        </p:nvSpPr>
        <p:spPr>
          <a:xfrm>
            <a:off x="1143000" y="3931920"/>
            <a:ext cx="7498080" cy="548640"/>
          </a:xfrm>
          <a:prstGeom prst="rect">
            <a:avLst/>
          </a:prstGeom>
          <a:noFill/>
          <a:ln/>
        </p:spPr>
        <p:txBody>
          <a:bodyPr wrap="square" lIns="0" tIns="0" rIns="0" bIns="0" rtlCol="0" anchor="ctr"/>
          <a:lstStyle/>
          <a:p>
            <a:pPr indent="0" marL="0">
              <a:buNone/>
            </a:pPr>
            <a:r>
              <a:rPr lang="en-US" sz="1600" dirty="0">
                <a:solidFill>
                  <a:schemeClr val="bg1"/>
                </a:solidFill>
              </a:rPr>
              <a:t>Satu engine terpadu menangani Volume, Velocity, dan Variety secara holistik</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6217920" y="2011680"/>
            <a:ext cx="4206240" cy="4206240"/>
          </a:xfrm>
          <a:prstGeom prst="ellipse">
            <a:avLst/>
          </a:prstGeom>
          <a:solidFill>
            <a:schemeClr val="accent1">
              <a:alpha val="15000"/>
            </a:schemeClr>
          </a:solidFill>
          <a:ln w="12700">
            <a:solidFill>
              <a:schemeClr val="accent1"/>
            </a:solidFill>
            <a:prstDash val="solid"/>
          </a:ln>
        </p:spPr>
      </p:sp>
      <p:sp>
        <p:nvSpPr>
          <p:cNvPr id="4" name="Text 1"/>
          <p:cNvSpPr txBox="1"/>
          <p:nvPr/>
        </p:nvSpPr>
        <p:spPr>
          <a:xfrm>
            <a:off x="548640" y="1097280"/>
            <a:ext cx="6400800" cy="91440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Terima kasih</a:t>
            </a:r>
            <a:endParaRPr lang="en-US" sz="4800" dirty="0"/>
          </a:p>
        </p:txBody>
      </p:sp>
      <p:sp>
        <p:nvSpPr>
          <p:cNvPr id="5" name="Text 2"/>
          <p:cNvSpPr txBox="1"/>
          <p:nvPr/>
        </p:nvSpPr>
        <p:spPr>
          <a:xfrm>
            <a:off x="548640" y="2057400"/>
            <a:ext cx="6400800" cy="457200"/>
          </a:xfrm>
          <a:prstGeom prst="rect">
            <a:avLst/>
          </a:prstGeom>
          <a:noFill/>
          <a:ln/>
        </p:spPr>
        <p:txBody>
          <a:bodyPr wrap="square" lIns="0" tIns="0" rIns="0" bIns="0" rtlCol="0" anchor="ctr"/>
          <a:lstStyle/>
          <a:p>
            <a:pPr indent="0" marL="0">
              <a:buNone/>
            </a:pPr>
            <a:r>
              <a:rPr lang="en-US" sz="2000" dirty="0">
                <a:solidFill>
                  <a:schemeClr val="accent3"/>
                </a:solidFill>
              </a:rPr>
              <a:t>Tanya jawab &amp; diskusi</a:t>
            </a:r>
            <a:endParaRPr lang="en-US" sz="2000" dirty="0"/>
          </a:p>
        </p:txBody>
      </p:sp>
      <p:sp>
        <p:nvSpPr>
          <p:cNvPr id="6" name="Text 3"/>
          <p:cNvSpPr txBox="1"/>
          <p:nvPr/>
        </p:nvSpPr>
        <p:spPr>
          <a:xfrm>
            <a:off x="548640" y="3017520"/>
            <a:ext cx="6400800" cy="155448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Kelompok 6</a:t>
            </a:r>
            <a:endParaRPr lang="en-US" sz="1400" dirty="0"/>
          </a:p>
          <a:p>
            <a:pPr indent="0" marL="0">
              <a:spcAft>
                <a:spcPts val="400"/>
              </a:spcAft>
              <a:buNone/>
            </a:pPr>
            <a:r>
              <a:rPr lang="en-US" sz="1400" dirty="0">
                <a:solidFill>
                  <a:schemeClr val="bg1"/>
                </a:solidFill>
              </a:rPr>
              <a:t>Muhammad Bryan Farras (2306230975)</a:t>
            </a:r>
            <a:endParaRPr lang="en-US" sz="1400" dirty="0"/>
          </a:p>
          <a:p>
            <a:pPr indent="0" marL="0">
              <a:spcAft>
                <a:spcPts val="400"/>
              </a:spcAft>
              <a:buNone/>
            </a:pPr>
            <a:r>
              <a:rPr lang="en-US" sz="1400" dirty="0">
                <a:solidFill>
                  <a:schemeClr val="bg1"/>
                </a:solidFill>
              </a:rPr>
              <a:t>Mirza Adi Raffiansyah (2306210323)</a:t>
            </a:r>
            <a:endParaRPr lang="en-US" sz="1400" dirty="0"/>
          </a:p>
          <a:p>
            <a:pPr indent="0" marL="0">
              <a:spcAft>
                <a:spcPts val="400"/>
              </a:spcAft>
              <a:buNone/>
            </a:pPr>
            <a:r>
              <a:rPr lang="en-US" sz="1400" dirty="0">
                <a:solidFill>
                  <a:schemeClr val="bg1"/>
                </a:solidFill>
              </a:rPr>
              <a:t>Calvin Wirathama Katoroy (2306242395)</a:t>
            </a:r>
            <a:endParaRPr lang="en-US" sz="1400" dirty="0"/>
          </a:p>
          <a:p>
            <a:pPr indent="0" marL="0">
              <a:spcAft>
                <a:spcPts val="400"/>
              </a:spcAft>
              <a:buNone/>
            </a:pPr>
            <a:r>
              <a:rPr lang="en-US" sz="1400" dirty="0">
                <a:solidFill>
                  <a:schemeClr val="bg1"/>
                </a:solidFill>
              </a:rPr>
              <a:t>Salim (2306204604)</a:t>
            </a:r>
            <a:endParaRPr lang="en-US" sz="1400" dirty="0"/>
          </a:p>
        </p:txBody>
      </p:sp>
    </p:spTree>
  </p:cSld>
  <p:clrMapOvr>
    <a:masterClrMapping/>
  </p:clrMapOvr>
</p:sld>
</file>

<file path=ppt/theme/theme1.xml><?xml version="1.0" encoding="utf-8"?>
<a:theme xmlns:a="http://schemas.openxmlformats.org/drawingml/2006/main" name="Spark Kelompok 6">
  <a:themeElements>
    <a:clrScheme name="Spark Kelompok 6">
      <a:dk1>
        <a:srgbClr val="1B1F2A"/>
      </a:dk1>
      <a:lt1>
        <a:srgbClr val="FFFFFF"/>
      </a:lt1>
      <a:dk2>
        <a:srgbClr val="4A5160"/>
      </a:dk2>
      <a:lt2>
        <a:srgbClr val="F3F4F6"/>
      </a:lt2>
      <a:accent1>
        <a:srgbClr val="E25A1C"/>
      </a:accent1>
      <a:accent2>
        <a:srgbClr val="1F7A8C"/>
      </a:accent2>
      <a:accent3>
        <a:srgbClr val="F2B134"/>
      </a:accent3>
      <a:accent4>
        <a:srgbClr val="5B6B8C"/>
      </a:accent4>
      <a:accent5>
        <a:srgbClr val="3FA796"/>
      </a:accent5>
      <a:accent6>
        <a:srgbClr val="C0392B"/>
      </a:accent6>
      <a:hlink>
        <a:srgbClr val="1F7A8C"/>
      </a:hlink>
      <a:folHlink>
        <a:srgbClr val="5B6B8C"/>
      </a:folHlink>
    </a:clrScheme>
    <a:fontScheme name="Spark Kelompok 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Implementasi Apache Spark dalam Big Data</dc:title>
  <dc:subject>PptxGenJS Presentation</dc:subject>
  <dc:creator>Kelompok 6</dc:creator>
  <cp:lastModifiedBy>Kelompok 6</cp:lastModifiedBy>
  <cp:revision>1</cp:revision>
  <dcterms:created xsi:type="dcterms:W3CDTF">2026-10-05T15:21:14Z</dcterms:created>
  <dcterms:modified xsi:type="dcterms:W3CDTF">2026-10-05T15:21:14Z</dcterms:modified>
</cp:coreProperties>
</file>